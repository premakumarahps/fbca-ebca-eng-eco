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Bold" charset="1" panose="00000800000000000000"/>
      <p:regular r:id="rId20"/>
    </p:embeddedFont>
    <p:embeddedFont>
      <p:font typeface="DM Sans Bold" charset="1" panose="00000000000000000000"/>
      <p:regular r:id="rId21"/>
    </p:embeddedFont>
    <p:embeddedFont>
      <p:font typeface="DM Sans" charset="1" panose="00000000000000000000"/>
      <p:regular r:id="rId22"/>
    </p:embeddedFont>
    <p:embeddedFont>
      <p:font typeface="Open Sauce" charset="1" panose="00000500000000000000"/>
      <p:regular r:id="rId26"/>
    </p:embeddedFont>
    <p:embeddedFont>
      <p:font typeface="Canva Sans Bold" charset="1" panose="020B0803030501040103"/>
      <p:regular r:id="rId27"/>
    </p:embeddedFont>
    <p:embeddedFont>
      <p:font typeface="Montserrat Medium" charset="1" panose="00000600000000000000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Goal: Evaluate if ferrocement panel can safely handle its own weight during lifting and use.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 Goal: Evaluate if ferrocement panel can safely handle its own weight during lifting and use.</a:t>
            </a:r>
          </a:p>
          <a:p>
            <a:r>
              <a:rPr lang="en-US"/>
              <a:t/>
            </a:r>
          </a:p>
          <a:p>
            <a:r>
              <a:rPr lang="en-US"/>
              <a:t>* Simulation confirms the current panel is at its tensile limit</a:t>
            </a:r>
          </a:p>
          <a:p>
            <a:r>
              <a:rPr lang="en-US"/>
              <a:t/>
            </a:r>
          </a:p>
          <a:p>
            <a:r>
              <a:rPr lang="en-US"/>
              <a:t>* Adopting a lightweight hollow or sandwich design makes the technology feasible and durable.</a:t>
            </a:r>
          </a:p>
          <a:p>
            <a:r>
              <a:rPr lang="en-US"/>
              <a:t/>
            </a:r>
          </a:p>
          <a:p>
            <a:r>
              <a:rPr lang="en-US"/>
              <a:t>* Panel used in simulation: </a:t>
            </a:r>
          </a:p>
          <a:p>
            <a:r>
              <a:rPr lang="en-US"/>
              <a:t/>
            </a:r>
          </a:p>
          <a:p>
            <a:r>
              <a:rPr lang="en-US"/>
              <a:t>2440 × 600 × 40 mm (Base line)</a:t>
            </a:r>
          </a:p>
          <a:p>
            <a:r>
              <a:rPr lang="en-US"/>
              <a:t>1:1.91 mix (w/c = 0.28)</a:t>
            </a:r>
          </a:p>
          <a:p>
            <a:r>
              <a:rPr lang="en-US"/>
              <a:t>Density = 2200 kg/m³</a:t>
            </a:r>
          </a:p>
          <a:p>
            <a:r>
              <a:rPr lang="en-US"/>
              <a:t>E = 20 GPa</a:t>
            </a:r>
          </a:p>
          <a:p>
            <a:r>
              <a:rPr lang="en-US"/>
              <a:t>ν = 0.20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Goal: Evaluate if ferrocement panel can safely handle its own weight during lifting and use.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Goal: Evaluate if ferrocement panel can safely handle its own weight during lifting and use.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Goal: Evaluate if ferrocement panel can safely handle its own weight during lifting and use.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Positive Impacts</a:t>
            </a:r>
          </a:p>
          <a:p>
            <a:r>
              <a:rPr lang="en-US"/>
              <a:t/>
            </a:r>
          </a:p>
          <a:p>
            <a:r>
              <a:rPr lang="en-US"/>
              <a:t>Employment diversification: new skilled jobs in panel casting, curing, and installation.</a:t>
            </a:r>
          </a:p>
          <a:p>
            <a:r>
              <a:rPr lang="en-US"/>
              <a:t/>
            </a:r>
          </a:p>
          <a:p>
            <a:r>
              <a:rPr lang="en-US"/>
              <a:t>Reskilling opportunities: traditional masons can be trained for prefab assembly and quality control.</a:t>
            </a:r>
          </a:p>
          <a:p>
            <a:r>
              <a:rPr lang="en-US"/>
              <a:t/>
            </a:r>
          </a:p>
          <a:p>
            <a:r>
              <a:rPr lang="en-US"/>
              <a:t>Affordable housing: faster, low-cost walls support social housing and disaster-relief construction.</a:t>
            </a:r>
          </a:p>
          <a:p>
            <a:r>
              <a:rPr lang="en-US"/>
              <a:t/>
            </a:r>
          </a:p>
          <a:p>
            <a:r>
              <a:rPr lang="en-US"/>
              <a:t>Community uplift: local manufacturing units create regional income sources and small-scale enterprises.</a:t>
            </a:r>
          </a:p>
          <a:p>
            <a:r>
              <a:rPr lang="en-US"/>
              <a:t/>
            </a:r>
          </a:p>
          <a:p>
            <a:r>
              <a:rPr lang="en-US"/>
              <a:t>Cleaner and safer sites: reduced dust, noise, and waste compared to block masonry.</a:t>
            </a:r>
          </a:p>
          <a:p>
            <a:r>
              <a:rPr lang="en-US"/>
              <a:t/>
            </a:r>
          </a:p>
          <a:p>
            <a:r>
              <a:rPr lang="en-US"/>
              <a:t>Time efficiency: faster completion improves housing availability and living standards.</a:t>
            </a:r>
          </a:p>
          <a:p>
            <a:r>
              <a:rPr lang="en-US"/>
              <a:t/>
            </a:r>
          </a:p>
          <a:p>
            <a:r>
              <a:rPr lang="en-US"/>
              <a:t>Potential Negative / Adverse Impacts</a:t>
            </a:r>
          </a:p>
          <a:p>
            <a:r>
              <a:rPr lang="en-US"/>
              <a:t/>
            </a:r>
          </a:p>
          <a:p>
            <a:r>
              <a:rPr lang="en-US"/>
              <a:t>Labor displacement: fewer on-site masonry jobs, risking unemployment among traditional workers.</a:t>
            </a:r>
          </a:p>
          <a:p>
            <a:r>
              <a:rPr lang="en-US"/>
              <a:t/>
            </a:r>
          </a:p>
          <a:p>
            <a:r>
              <a:rPr lang="en-US"/>
              <a:t>Cultural resistance: reluctance to trust or adopt non-traditional materials.</a:t>
            </a:r>
          </a:p>
          <a:p>
            <a:r>
              <a:rPr lang="en-US"/>
              <a:t/>
            </a:r>
          </a:p>
          <a:p>
            <a:r>
              <a:rPr lang="en-US"/>
              <a:t>Skill gap: short-term shortage of trained workers for panel production and installation.</a:t>
            </a:r>
          </a:p>
          <a:p>
            <a:r>
              <a:rPr lang="en-US"/>
              <a:t/>
            </a:r>
          </a:p>
          <a:p>
            <a:r>
              <a:rPr lang="en-US"/>
              <a:t>Quality inconsistency risk: poor training or supervision can cause defects and harm perception.</a:t>
            </a:r>
          </a:p>
          <a:p>
            <a:r>
              <a:rPr lang="en-US"/>
              <a:t/>
            </a:r>
          </a:p>
          <a:p>
            <a:r>
              <a:rPr lang="en-US"/>
              <a:t>Urban–rural imbalance: prefab production may centralize in cities, limiting rural employment gains.</a:t>
            </a:r>
          </a:p>
          <a:p>
            <a:r>
              <a:rPr lang="en-US"/>
              <a:t/>
            </a:r>
          </a:p>
          <a:p>
            <a:r>
              <a:rPr lang="en-US"/>
              <a:t>End-of-life waste: damaged panels need recycling systems to avoid dumping.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Positive Impacts</a:t>
            </a:r>
          </a:p>
          <a:p>
            <a:r>
              <a:rPr lang="en-US"/>
              <a:t/>
            </a:r>
          </a:p>
          <a:p>
            <a:r>
              <a:rPr lang="en-US"/>
              <a:t>Employment diversification: new skilled jobs in panel casting, curing, and installation.</a:t>
            </a:r>
          </a:p>
          <a:p>
            <a:r>
              <a:rPr lang="en-US"/>
              <a:t/>
            </a:r>
          </a:p>
          <a:p>
            <a:r>
              <a:rPr lang="en-US"/>
              <a:t>Reskilling opportunities: traditional masons can be trained for prefab assembly and quality control.</a:t>
            </a:r>
          </a:p>
          <a:p>
            <a:r>
              <a:rPr lang="en-US"/>
              <a:t/>
            </a:r>
          </a:p>
          <a:p>
            <a:r>
              <a:rPr lang="en-US"/>
              <a:t>Affordable housing: faster, low-cost walls support social housing and disaster-relief construction.</a:t>
            </a:r>
          </a:p>
          <a:p>
            <a:r>
              <a:rPr lang="en-US"/>
              <a:t/>
            </a:r>
          </a:p>
          <a:p>
            <a:r>
              <a:rPr lang="en-US"/>
              <a:t>Community uplift: local manufacturing units create regional income sources and small-scale enterprises.</a:t>
            </a:r>
          </a:p>
          <a:p>
            <a:r>
              <a:rPr lang="en-US"/>
              <a:t/>
            </a:r>
          </a:p>
          <a:p>
            <a:r>
              <a:rPr lang="en-US"/>
              <a:t>Cleaner and safer sites: reduced dust, noise, and waste compared to block masonry.</a:t>
            </a:r>
          </a:p>
          <a:p>
            <a:r>
              <a:rPr lang="en-US"/>
              <a:t/>
            </a:r>
          </a:p>
          <a:p>
            <a:r>
              <a:rPr lang="en-US"/>
              <a:t>Time efficiency: faster completion improves housing availability and living standards.</a:t>
            </a:r>
          </a:p>
          <a:p>
            <a:r>
              <a:rPr lang="en-US"/>
              <a:t/>
            </a:r>
          </a:p>
          <a:p>
            <a:r>
              <a:rPr lang="en-US"/>
              <a:t>Potential Negative / Adverse Impacts</a:t>
            </a:r>
          </a:p>
          <a:p>
            <a:r>
              <a:rPr lang="en-US"/>
              <a:t/>
            </a:r>
          </a:p>
          <a:p>
            <a:r>
              <a:rPr lang="en-US"/>
              <a:t>Labor displacement: fewer on-site masonry jobs, risking unemployment among traditional workers.</a:t>
            </a:r>
          </a:p>
          <a:p>
            <a:r>
              <a:rPr lang="en-US"/>
              <a:t/>
            </a:r>
          </a:p>
          <a:p>
            <a:r>
              <a:rPr lang="en-US"/>
              <a:t>Cultural resistance: reluctance to trust or adopt non-traditional materials.</a:t>
            </a:r>
          </a:p>
          <a:p>
            <a:r>
              <a:rPr lang="en-US"/>
              <a:t/>
            </a:r>
          </a:p>
          <a:p>
            <a:r>
              <a:rPr lang="en-US"/>
              <a:t>Skill gap: short-term shortage of trained workers for panel production and installation.</a:t>
            </a:r>
          </a:p>
          <a:p>
            <a:r>
              <a:rPr lang="en-US"/>
              <a:t/>
            </a:r>
          </a:p>
          <a:p>
            <a:r>
              <a:rPr lang="en-US"/>
              <a:t>Quality inconsistency risk: poor training or supervision can cause defects and harm perception.</a:t>
            </a:r>
          </a:p>
          <a:p>
            <a:r>
              <a:rPr lang="en-US"/>
              <a:t/>
            </a:r>
          </a:p>
          <a:p>
            <a:r>
              <a:rPr lang="en-US"/>
              <a:t>Urban–rural imbalance: prefab production may centralize in cities, limiting rural employment gains.</a:t>
            </a:r>
          </a:p>
          <a:p>
            <a:r>
              <a:rPr lang="en-US"/>
              <a:t/>
            </a:r>
          </a:p>
          <a:p>
            <a:r>
              <a:rPr lang="en-US"/>
              <a:t>End-of-life waste: damaged panels need recycling systems to avoid dumping.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Positive Impacts (🟢)</a:t>
            </a:r>
          </a:p>
          <a:p>
            <a:r>
              <a:rPr lang="en-US"/>
              <a:t/>
            </a:r>
          </a:p>
          <a:p>
            <a:r>
              <a:rPr lang="en-US"/>
              <a:t>Lower resource consumption: thin mortar sections use significantly less cement and sand.</a:t>
            </a:r>
          </a:p>
          <a:p>
            <a:r>
              <a:rPr lang="en-US"/>
              <a:t/>
            </a:r>
          </a:p>
          <a:p>
            <a:r>
              <a:rPr lang="en-US"/>
              <a:t>Reduced embodied energy: no kiln firing (unlike clay bricks); lower CO₂ emissions.</a:t>
            </a:r>
          </a:p>
          <a:p>
            <a:r>
              <a:rPr lang="en-US"/>
              <a:t/>
            </a:r>
          </a:p>
          <a:p>
            <a:r>
              <a:rPr lang="en-US"/>
              <a:t>Less on-site waste: prefabrication minimizes spillage and rework.</a:t>
            </a:r>
          </a:p>
          <a:p>
            <a:r>
              <a:rPr lang="en-US"/>
              <a:t/>
            </a:r>
          </a:p>
          <a:p>
            <a:r>
              <a:rPr lang="en-US"/>
              <a:t>Recyclable materials: GI mesh and cementitious waste can be reused.</a:t>
            </a:r>
          </a:p>
          <a:p>
            <a:r>
              <a:rPr lang="en-US"/>
              <a:t/>
            </a:r>
          </a:p>
          <a:p>
            <a:r>
              <a:rPr lang="en-US"/>
              <a:t>Durability: long service life reduces replacement frequency and lifecycle emissions.</a:t>
            </a:r>
          </a:p>
          <a:p>
            <a:r>
              <a:rPr lang="en-US"/>
              <a:t/>
            </a:r>
          </a:p>
          <a:p>
            <a:r>
              <a:rPr lang="en-US"/>
              <a:t>Lightweight structure: lowers foundation material use and transportation fuel.</a:t>
            </a:r>
          </a:p>
          <a:p>
            <a:r>
              <a:rPr lang="en-US"/>
              <a:t/>
            </a:r>
          </a:p>
          <a:p>
            <a:r>
              <a:rPr lang="en-US"/>
              <a:t>Negative Impacts (🔴)</a:t>
            </a:r>
          </a:p>
          <a:p>
            <a:r>
              <a:rPr lang="en-US"/>
              <a:t/>
            </a:r>
          </a:p>
          <a:p>
            <a:r>
              <a:rPr lang="en-US"/>
              <a:t>Cement footprint: production of OPC still contributes CO₂ unless blended or green cement is used.</a:t>
            </a:r>
          </a:p>
          <a:p>
            <a:r>
              <a:rPr lang="en-US"/>
              <a:t/>
            </a:r>
          </a:p>
          <a:p>
            <a:r>
              <a:rPr lang="en-US"/>
              <a:t>Mesh corrosion waste: improper disposal of rusted steel mesh can cause contamination.</a:t>
            </a:r>
          </a:p>
          <a:p>
            <a:r>
              <a:rPr lang="en-US"/>
              <a:t/>
            </a:r>
          </a:p>
          <a:p>
            <a:r>
              <a:rPr lang="en-US"/>
              <a:t>Transport emissions: prefab delivery over long distances increases fuel use.</a:t>
            </a:r>
          </a:p>
          <a:p>
            <a:r>
              <a:rPr lang="en-US"/>
              <a:t/>
            </a:r>
          </a:p>
          <a:p>
            <a:r>
              <a:rPr lang="en-US"/>
              <a:t>End-of-life recycling challenge: separating mortar and mesh requires energy or new processes.</a:t>
            </a:r>
          </a:p>
          <a:p>
            <a:r>
              <a:rPr lang="en-US"/>
              <a:t/>
            </a:r>
          </a:p>
          <a:p>
            <a:r>
              <a:rPr lang="en-US"/>
              <a:t>Water use in curing: may be high unless closed-loop curing or steam curing adopted.</a:t>
            </a:r>
          </a:p>
          <a:p>
            <a:r>
              <a:rPr lang="en-US"/>
              <a:t/>
            </a:r>
          </a:p>
          <a:p>
            <a:r>
              <a:rPr lang="en-US"/>
              <a:t>Takeaway:</a:t>
            </a:r>
          </a:p>
          <a:p>
            <a:r>
              <a:rPr lang="en-US"/>
              <a:t>Ferrocement panels are environmentally favorable compared to conventional masonry, with further gains achievable through green cement, recycled sand, and optimized curing.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Positive Impacts</a:t>
            </a:r>
          </a:p>
          <a:p>
            <a:r>
              <a:rPr lang="en-US"/>
              <a:t/>
            </a:r>
          </a:p>
          <a:p>
            <a:r>
              <a:rPr lang="en-US"/>
              <a:t>Employment diversification: new skilled jobs in panel casting, curing, and installation.</a:t>
            </a:r>
          </a:p>
          <a:p>
            <a:r>
              <a:rPr lang="en-US"/>
              <a:t/>
            </a:r>
          </a:p>
          <a:p>
            <a:r>
              <a:rPr lang="en-US"/>
              <a:t>Reskilling opportunities: traditional masons can be trained for prefab assembly and quality control.</a:t>
            </a:r>
          </a:p>
          <a:p>
            <a:r>
              <a:rPr lang="en-US"/>
              <a:t/>
            </a:r>
          </a:p>
          <a:p>
            <a:r>
              <a:rPr lang="en-US"/>
              <a:t>Affordable housing: faster, low-cost walls support social housing and disaster-relief construction.</a:t>
            </a:r>
          </a:p>
          <a:p>
            <a:r>
              <a:rPr lang="en-US"/>
              <a:t/>
            </a:r>
          </a:p>
          <a:p>
            <a:r>
              <a:rPr lang="en-US"/>
              <a:t>Community uplift: local manufacturing units create regional income sources and small-scale enterprises.</a:t>
            </a:r>
          </a:p>
          <a:p>
            <a:r>
              <a:rPr lang="en-US"/>
              <a:t/>
            </a:r>
          </a:p>
          <a:p>
            <a:r>
              <a:rPr lang="en-US"/>
              <a:t>Cleaner and safer sites: reduced dust, noise, and waste compared to block masonry.</a:t>
            </a:r>
          </a:p>
          <a:p>
            <a:r>
              <a:rPr lang="en-US"/>
              <a:t/>
            </a:r>
          </a:p>
          <a:p>
            <a:r>
              <a:rPr lang="en-US"/>
              <a:t>Time efficiency: faster completion improves housing availability and living standards.</a:t>
            </a:r>
          </a:p>
          <a:p>
            <a:r>
              <a:rPr lang="en-US"/>
              <a:t/>
            </a:r>
          </a:p>
          <a:p>
            <a:r>
              <a:rPr lang="en-US"/>
              <a:t>Potential Negative / Adverse Impacts</a:t>
            </a:r>
          </a:p>
          <a:p>
            <a:r>
              <a:rPr lang="en-US"/>
              <a:t/>
            </a:r>
          </a:p>
          <a:p>
            <a:r>
              <a:rPr lang="en-US"/>
              <a:t>Labor displacement: fewer on-site masonry jobs, risking unemployment among traditional workers.</a:t>
            </a:r>
          </a:p>
          <a:p>
            <a:r>
              <a:rPr lang="en-US"/>
              <a:t/>
            </a:r>
          </a:p>
          <a:p>
            <a:r>
              <a:rPr lang="en-US"/>
              <a:t>Cultural resistance: reluctance to trust or adopt non-traditional materials.</a:t>
            </a:r>
          </a:p>
          <a:p>
            <a:r>
              <a:rPr lang="en-US"/>
              <a:t/>
            </a:r>
          </a:p>
          <a:p>
            <a:r>
              <a:rPr lang="en-US"/>
              <a:t>Skill gap: short-term shortage of trained workers for panel production and installation.</a:t>
            </a:r>
          </a:p>
          <a:p>
            <a:r>
              <a:rPr lang="en-US"/>
              <a:t/>
            </a:r>
          </a:p>
          <a:p>
            <a:r>
              <a:rPr lang="en-US"/>
              <a:t>Quality inconsistency risk: poor training or supervision can cause defects and harm perception.</a:t>
            </a:r>
          </a:p>
          <a:p>
            <a:r>
              <a:rPr lang="en-US"/>
              <a:t/>
            </a:r>
          </a:p>
          <a:p>
            <a:r>
              <a:rPr lang="en-US"/>
              <a:t>Urban–rural imbalance: prefab production may centralize in cities, limiting rural employment gains.</a:t>
            </a:r>
          </a:p>
          <a:p>
            <a:r>
              <a:rPr lang="en-US"/>
              <a:t/>
            </a:r>
          </a:p>
          <a:p>
            <a:r>
              <a:rPr lang="en-US"/>
              <a:t>End-of-life waste: damaged panels need recycling systems to avoid dumping.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Positive Impacts (🟢)</a:t>
            </a:r>
          </a:p>
          <a:p>
            <a:r>
              <a:rPr lang="en-US"/>
              <a:t/>
            </a:r>
          </a:p>
          <a:p>
            <a:r>
              <a:rPr lang="en-US"/>
              <a:t>Lower resource consumption: thin mortar sections use significantly less cement and sand.</a:t>
            </a:r>
          </a:p>
          <a:p>
            <a:r>
              <a:rPr lang="en-US"/>
              <a:t/>
            </a:r>
          </a:p>
          <a:p>
            <a:r>
              <a:rPr lang="en-US"/>
              <a:t>Reduced embodied energy: no kiln firing (unlike clay bricks); lower CO₂ emissions.</a:t>
            </a:r>
          </a:p>
          <a:p>
            <a:r>
              <a:rPr lang="en-US"/>
              <a:t/>
            </a:r>
          </a:p>
          <a:p>
            <a:r>
              <a:rPr lang="en-US"/>
              <a:t>Less on-site waste: prefabrication minimizes spillage and rework.</a:t>
            </a:r>
          </a:p>
          <a:p>
            <a:r>
              <a:rPr lang="en-US"/>
              <a:t/>
            </a:r>
          </a:p>
          <a:p>
            <a:r>
              <a:rPr lang="en-US"/>
              <a:t>Recyclable materials: GI mesh and cementitious waste can be reused.</a:t>
            </a:r>
          </a:p>
          <a:p>
            <a:r>
              <a:rPr lang="en-US"/>
              <a:t/>
            </a:r>
          </a:p>
          <a:p>
            <a:r>
              <a:rPr lang="en-US"/>
              <a:t>Durability: long service life reduces replacement frequency and lifecycle emissions.</a:t>
            </a:r>
          </a:p>
          <a:p>
            <a:r>
              <a:rPr lang="en-US"/>
              <a:t/>
            </a:r>
          </a:p>
          <a:p>
            <a:r>
              <a:rPr lang="en-US"/>
              <a:t>Lightweight structure: lowers foundation material use and transportation fuel.</a:t>
            </a:r>
          </a:p>
          <a:p>
            <a:r>
              <a:rPr lang="en-US"/>
              <a:t/>
            </a:r>
          </a:p>
          <a:p>
            <a:r>
              <a:rPr lang="en-US"/>
              <a:t>Negative Impacts (🔴)</a:t>
            </a:r>
          </a:p>
          <a:p>
            <a:r>
              <a:rPr lang="en-US"/>
              <a:t/>
            </a:r>
          </a:p>
          <a:p>
            <a:r>
              <a:rPr lang="en-US"/>
              <a:t>Cement footprint: production of OPC still contributes CO₂ unless blended or green cement is used.</a:t>
            </a:r>
          </a:p>
          <a:p>
            <a:r>
              <a:rPr lang="en-US"/>
              <a:t/>
            </a:r>
          </a:p>
          <a:p>
            <a:r>
              <a:rPr lang="en-US"/>
              <a:t>Mesh corrosion waste: improper disposal of rusted steel mesh can cause contamination.</a:t>
            </a:r>
          </a:p>
          <a:p>
            <a:r>
              <a:rPr lang="en-US"/>
              <a:t/>
            </a:r>
          </a:p>
          <a:p>
            <a:r>
              <a:rPr lang="en-US"/>
              <a:t>Transport emissions: prefab delivery over long distances increases fuel use.</a:t>
            </a:r>
          </a:p>
          <a:p>
            <a:r>
              <a:rPr lang="en-US"/>
              <a:t/>
            </a:r>
          </a:p>
          <a:p>
            <a:r>
              <a:rPr lang="en-US"/>
              <a:t>End-of-life recycling challenge: separating mortar and mesh requires energy or new processes.</a:t>
            </a:r>
          </a:p>
          <a:p>
            <a:r>
              <a:rPr lang="en-US"/>
              <a:t/>
            </a:r>
          </a:p>
          <a:p>
            <a:r>
              <a:rPr lang="en-US"/>
              <a:t>Water use in curing: may be high unless closed-loop curing or steam curing adopted.</a:t>
            </a:r>
          </a:p>
          <a:p>
            <a:r>
              <a:rPr lang="en-US"/>
              <a:t/>
            </a:r>
          </a:p>
          <a:p>
            <a:r>
              <a:rPr lang="en-US"/>
              <a:t>Takeaway:</a:t>
            </a:r>
          </a:p>
          <a:p>
            <a:r>
              <a:rPr lang="en-US"/>
              <a:t>Ferrocement panels are environmentally favorable compared to conventional masonry, with further gains achievable through green cement, recycled sand, and optimized curing.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6.jpe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1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2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2908" y="-3169556"/>
            <a:ext cx="18695490" cy="18677342"/>
            <a:chOff x="0" y="0"/>
            <a:chExt cx="890190" cy="88932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17165" y="17141"/>
              <a:ext cx="855861" cy="855044"/>
            </a:xfrm>
            <a:custGeom>
              <a:avLst/>
              <a:gdLst/>
              <a:ahLst/>
              <a:cxnLst/>
              <a:rect r="r" b="b" t="t" l="l"/>
              <a:pathLst>
                <a:path h="855044" w="855861">
                  <a:moveTo>
                    <a:pt x="398634" y="12127"/>
                  </a:moveTo>
                  <a:lnTo>
                    <a:pt x="12131" y="398255"/>
                  </a:lnTo>
                  <a:cubicBezTo>
                    <a:pt x="4364" y="406014"/>
                    <a:pt x="0" y="416543"/>
                    <a:pt x="0" y="427522"/>
                  </a:cubicBezTo>
                  <a:cubicBezTo>
                    <a:pt x="0" y="438501"/>
                    <a:pt x="4364" y="449030"/>
                    <a:pt x="12131" y="456790"/>
                  </a:cubicBezTo>
                  <a:lnTo>
                    <a:pt x="398634" y="842918"/>
                  </a:lnTo>
                  <a:cubicBezTo>
                    <a:pt x="414818" y="859086"/>
                    <a:pt x="441042" y="859086"/>
                    <a:pt x="457226" y="842918"/>
                  </a:cubicBezTo>
                  <a:lnTo>
                    <a:pt x="843729" y="456790"/>
                  </a:lnTo>
                  <a:cubicBezTo>
                    <a:pt x="851497" y="449030"/>
                    <a:pt x="855861" y="438501"/>
                    <a:pt x="855861" y="427522"/>
                  </a:cubicBezTo>
                  <a:cubicBezTo>
                    <a:pt x="855861" y="416543"/>
                    <a:pt x="851497" y="406014"/>
                    <a:pt x="843729" y="398255"/>
                  </a:cubicBezTo>
                  <a:lnTo>
                    <a:pt x="457226" y="12127"/>
                  </a:lnTo>
                  <a:cubicBezTo>
                    <a:pt x="441042" y="-4042"/>
                    <a:pt x="414818" y="-4042"/>
                    <a:pt x="398634" y="12127"/>
                  </a:cubicBezTo>
                  <a:close/>
                </a:path>
              </a:pathLst>
            </a:custGeom>
            <a:blipFill>
              <a:blip r:embed="rId2"/>
              <a:stretch>
                <a:fillRect l="-37242" t="-3272" r="-20621" b="-20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586072" y="7799179"/>
            <a:ext cx="19970002" cy="9914866"/>
            <a:chOff x="0" y="0"/>
            <a:chExt cx="1557574" cy="7733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8687" y="0"/>
              <a:ext cx="1520200" cy="760215"/>
            </a:xfrm>
            <a:custGeom>
              <a:avLst/>
              <a:gdLst/>
              <a:ahLst/>
              <a:cxnLst/>
              <a:rect r="r" b="b" t="t" l="l"/>
              <a:pathLst>
                <a:path h="760215" w="1520200">
                  <a:moveTo>
                    <a:pt x="782658" y="750917"/>
                  </a:moveTo>
                  <a:lnTo>
                    <a:pt x="1516329" y="22399"/>
                  </a:lnTo>
                  <a:cubicBezTo>
                    <a:pt x="1520095" y="18659"/>
                    <a:pt x="1521233" y="13017"/>
                    <a:pt x="1519211" y="8109"/>
                  </a:cubicBezTo>
                  <a:cubicBezTo>
                    <a:pt x="1517188" y="3202"/>
                    <a:pt x="1512405" y="0"/>
                    <a:pt x="1507097" y="0"/>
                  </a:cubicBezTo>
                  <a:lnTo>
                    <a:pt x="13103" y="0"/>
                  </a:lnTo>
                  <a:cubicBezTo>
                    <a:pt x="7795" y="0"/>
                    <a:pt x="3012" y="3202"/>
                    <a:pt x="989" y="8109"/>
                  </a:cubicBezTo>
                  <a:cubicBezTo>
                    <a:pt x="-1034" y="13017"/>
                    <a:pt x="104" y="18659"/>
                    <a:pt x="3871" y="22399"/>
                  </a:cubicBezTo>
                  <a:lnTo>
                    <a:pt x="737542" y="750917"/>
                  </a:lnTo>
                  <a:cubicBezTo>
                    <a:pt x="750026" y="763314"/>
                    <a:pt x="770174" y="763314"/>
                    <a:pt x="782658" y="750917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72475" y="-6629739"/>
            <a:ext cx="18788758" cy="9328392"/>
            <a:chOff x="0" y="0"/>
            <a:chExt cx="1557574" cy="7733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094121" y="895418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4054" y="1810487"/>
            <a:ext cx="10336840" cy="435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9"/>
              </a:lnSpc>
            </a:pPr>
            <a:r>
              <a:rPr lang="en-US" b="true" sz="9399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FERROCEMENT WALL PANELS </a:t>
            </a:r>
          </a:p>
          <a:p>
            <a:pPr algn="l">
              <a:lnSpc>
                <a:spcPts val="8459"/>
              </a:lnSpc>
            </a:pPr>
            <a:r>
              <a:rPr lang="en-US" b="true" sz="9399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CONSTRUCTION</a:t>
            </a:r>
          </a:p>
        </p:txBody>
      </p:sp>
      <p:grpSp>
        <p:nvGrpSpPr>
          <p:cNvPr name="Group 12" id="12"/>
          <p:cNvGrpSpPr/>
          <p:nvPr/>
        </p:nvGrpSpPr>
        <p:grpSpPr>
          <a:xfrm rot="2700000">
            <a:off x="11167675" y="2097662"/>
            <a:ext cx="2254596" cy="2254596"/>
            <a:chOff x="0" y="0"/>
            <a:chExt cx="593803" cy="5938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3803" cy="593803"/>
            </a:xfrm>
            <a:custGeom>
              <a:avLst/>
              <a:gdLst/>
              <a:ahLst/>
              <a:cxnLst/>
              <a:rect r="r" b="b" t="t" l="l"/>
              <a:pathLst>
                <a:path h="593803" w="593803">
                  <a:moveTo>
                    <a:pt x="161390" y="0"/>
                  </a:moveTo>
                  <a:lnTo>
                    <a:pt x="432413" y="0"/>
                  </a:lnTo>
                  <a:cubicBezTo>
                    <a:pt x="475216" y="0"/>
                    <a:pt x="516266" y="17004"/>
                    <a:pt x="546533" y="47270"/>
                  </a:cubicBezTo>
                  <a:cubicBezTo>
                    <a:pt x="576800" y="77537"/>
                    <a:pt x="593803" y="118587"/>
                    <a:pt x="593803" y="161390"/>
                  </a:cubicBezTo>
                  <a:lnTo>
                    <a:pt x="593803" y="432413"/>
                  </a:lnTo>
                  <a:cubicBezTo>
                    <a:pt x="593803" y="475216"/>
                    <a:pt x="576800" y="516266"/>
                    <a:pt x="546533" y="546533"/>
                  </a:cubicBezTo>
                  <a:cubicBezTo>
                    <a:pt x="516266" y="576800"/>
                    <a:pt x="475216" y="593803"/>
                    <a:pt x="432413" y="593803"/>
                  </a:cubicBezTo>
                  <a:lnTo>
                    <a:pt x="161390" y="593803"/>
                  </a:lnTo>
                  <a:cubicBezTo>
                    <a:pt x="118587" y="593803"/>
                    <a:pt x="77537" y="576800"/>
                    <a:pt x="47270" y="546533"/>
                  </a:cubicBezTo>
                  <a:cubicBezTo>
                    <a:pt x="17004" y="516266"/>
                    <a:pt x="0" y="475216"/>
                    <a:pt x="0" y="432413"/>
                  </a:cubicBezTo>
                  <a:lnTo>
                    <a:pt x="0" y="161390"/>
                  </a:lnTo>
                  <a:cubicBezTo>
                    <a:pt x="0" y="118587"/>
                    <a:pt x="17004" y="77537"/>
                    <a:pt x="47270" y="47270"/>
                  </a:cubicBezTo>
                  <a:cubicBezTo>
                    <a:pt x="77537" y="17004"/>
                    <a:pt x="118587" y="0"/>
                    <a:pt x="161390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93803" cy="63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4054" y="6517225"/>
            <a:ext cx="5899253" cy="331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8"/>
              </a:lnSpc>
            </a:pPr>
            <a:r>
              <a:rPr lang="en-US" sz="3563" b="true">
                <a:solidFill>
                  <a:srgbClr val="1E1E1E"/>
                </a:solidFill>
                <a:latin typeface="DM Sans Bold"/>
                <a:ea typeface="DM Sans Bold"/>
                <a:cs typeface="DM Sans Bold"/>
                <a:sym typeface="DM Sans Bold"/>
              </a:rPr>
              <a:t>Group Members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210016R - Abhirami T.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210070B - Bibulewela P.A.C. 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210381E - Mayoorathan K.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210494D - Premakumara H.P.C.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rPr>
              <a:t>210640A- Themiya K.L.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4054" y="631162"/>
            <a:ext cx="718697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MN 4023 - Individual Assignment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1486" y="-6859967"/>
            <a:ext cx="18788758" cy="9328392"/>
            <a:chOff x="0" y="0"/>
            <a:chExt cx="1557574" cy="773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0160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7110" y="2285186"/>
            <a:ext cx="10512048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Product: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Prefabricated ferrocement wall panel made of a cement–sand mortar reinforced with wire mesh, suitable for modular walls in toilets, tanks, and housing units.</a:t>
            </a:r>
          </a:p>
          <a:p>
            <a:pPr algn="just">
              <a:lnSpc>
                <a:spcPts val="377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Issues: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Current prototypes at NERDC face cracking during lifting/handling and excessive self-weight, making transport and installation difficult.</a:t>
            </a:r>
          </a:p>
          <a:p>
            <a:pPr algn="just">
              <a:lnSpc>
                <a:spcPts val="377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Goal: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To create an optimized, durable, and sustainable wall panel - reducing weight, preventing cracks.</a:t>
            </a:r>
          </a:p>
          <a:p>
            <a:pPr algn="just">
              <a:lnSpc>
                <a:spcPts val="419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2927027">
            <a:off x="16494418" y="-2519768"/>
            <a:ext cx="5057904" cy="4720220"/>
            <a:chOff x="0" y="0"/>
            <a:chExt cx="1332123" cy="12431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2123" cy="1243185"/>
            </a:xfrm>
            <a:custGeom>
              <a:avLst/>
              <a:gdLst/>
              <a:ahLst/>
              <a:cxnLst/>
              <a:rect r="r" b="b" t="t" l="l"/>
              <a:pathLst>
                <a:path h="1243185" w="1332123">
                  <a:moveTo>
                    <a:pt x="38266" y="0"/>
                  </a:moveTo>
                  <a:lnTo>
                    <a:pt x="1293856" y="0"/>
                  </a:lnTo>
                  <a:cubicBezTo>
                    <a:pt x="1304005" y="0"/>
                    <a:pt x="1313738" y="4032"/>
                    <a:pt x="1320915" y="11208"/>
                  </a:cubicBezTo>
                  <a:cubicBezTo>
                    <a:pt x="1328091" y="18384"/>
                    <a:pt x="1332123" y="28118"/>
                    <a:pt x="1332123" y="38266"/>
                  </a:cubicBezTo>
                  <a:lnTo>
                    <a:pt x="1332123" y="1204919"/>
                  </a:lnTo>
                  <a:cubicBezTo>
                    <a:pt x="1332123" y="1226053"/>
                    <a:pt x="1314990" y="1243185"/>
                    <a:pt x="1293856" y="1243185"/>
                  </a:cubicBezTo>
                  <a:lnTo>
                    <a:pt x="38266" y="1243185"/>
                  </a:lnTo>
                  <a:cubicBezTo>
                    <a:pt x="17132" y="1243185"/>
                    <a:pt x="0" y="1226053"/>
                    <a:pt x="0" y="1204919"/>
                  </a:cubicBezTo>
                  <a:lnTo>
                    <a:pt x="0" y="38266"/>
                  </a:lnTo>
                  <a:cubicBezTo>
                    <a:pt x="0" y="17132"/>
                    <a:pt x="17132" y="0"/>
                    <a:pt x="38266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32123" cy="1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83134" y="585135"/>
            <a:ext cx="6321732" cy="967176"/>
            <a:chOff x="0" y="0"/>
            <a:chExt cx="1664983" cy="254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4983" cy="254729"/>
            </a:xfrm>
            <a:custGeom>
              <a:avLst/>
              <a:gdLst/>
              <a:ahLst/>
              <a:cxnLst/>
              <a:rect r="r" b="b" t="t" l="l"/>
              <a:pathLst>
                <a:path h="254729" w="1664983">
                  <a:moveTo>
                    <a:pt x="62457" y="0"/>
                  </a:moveTo>
                  <a:lnTo>
                    <a:pt x="1602526" y="0"/>
                  </a:lnTo>
                  <a:cubicBezTo>
                    <a:pt x="1637020" y="0"/>
                    <a:pt x="1664983" y="27963"/>
                    <a:pt x="1664983" y="62457"/>
                  </a:cubicBezTo>
                  <a:lnTo>
                    <a:pt x="1664983" y="192272"/>
                  </a:lnTo>
                  <a:cubicBezTo>
                    <a:pt x="1664983" y="208837"/>
                    <a:pt x="1658403" y="224723"/>
                    <a:pt x="1646690" y="236436"/>
                  </a:cubicBezTo>
                  <a:cubicBezTo>
                    <a:pt x="1634977" y="248149"/>
                    <a:pt x="1619090" y="254729"/>
                    <a:pt x="1602526" y="254729"/>
                  </a:cubicBezTo>
                  <a:lnTo>
                    <a:pt x="62457" y="254729"/>
                  </a:lnTo>
                  <a:cubicBezTo>
                    <a:pt x="45893" y="254729"/>
                    <a:pt x="30006" y="248149"/>
                    <a:pt x="18293" y="236436"/>
                  </a:cubicBezTo>
                  <a:cubicBezTo>
                    <a:pt x="6580" y="224723"/>
                    <a:pt x="0" y="208837"/>
                    <a:pt x="0" y="192272"/>
                  </a:cubicBezTo>
                  <a:lnTo>
                    <a:pt x="0" y="62457"/>
                  </a:lnTo>
                  <a:cubicBezTo>
                    <a:pt x="0" y="45893"/>
                    <a:pt x="6580" y="30006"/>
                    <a:pt x="18293" y="18293"/>
                  </a:cubicBezTo>
                  <a:cubicBezTo>
                    <a:pt x="30006" y="6580"/>
                    <a:pt x="45893" y="0"/>
                    <a:pt x="62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64983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520343" y="2468425"/>
            <a:ext cx="6767657" cy="6673545"/>
          </a:xfrm>
          <a:custGeom>
            <a:avLst/>
            <a:gdLst/>
            <a:ahLst/>
            <a:cxnLst/>
            <a:rect r="r" b="b" t="t" l="l"/>
            <a:pathLst>
              <a:path h="6673545" w="6767657">
                <a:moveTo>
                  <a:pt x="0" y="0"/>
                </a:moveTo>
                <a:lnTo>
                  <a:pt x="6767657" y="0"/>
                </a:lnTo>
                <a:lnTo>
                  <a:pt x="6767657" y="6673545"/>
                </a:lnTo>
                <a:lnTo>
                  <a:pt x="0" y="6673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702" t="0" r="-1496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4368" y="594060"/>
            <a:ext cx="48227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0076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890132" y="9759185"/>
            <a:ext cx="21518857" cy="2096422"/>
            <a:chOff x="0" y="0"/>
            <a:chExt cx="5667518" cy="552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67958" y="503658"/>
            <a:ext cx="9152084" cy="967176"/>
            <a:chOff x="0" y="0"/>
            <a:chExt cx="2410426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426" cy="254729"/>
            </a:xfrm>
            <a:custGeom>
              <a:avLst/>
              <a:gdLst/>
              <a:ahLst/>
              <a:cxnLst/>
              <a:rect r="r" b="b" t="t" l="l"/>
              <a:pathLst>
                <a:path h="254729" w="2410426">
                  <a:moveTo>
                    <a:pt x="43142" y="0"/>
                  </a:moveTo>
                  <a:lnTo>
                    <a:pt x="2367284" y="0"/>
                  </a:lnTo>
                  <a:cubicBezTo>
                    <a:pt x="2391110" y="0"/>
                    <a:pt x="2410426" y="19315"/>
                    <a:pt x="2410426" y="43142"/>
                  </a:cubicBezTo>
                  <a:lnTo>
                    <a:pt x="2410426" y="211588"/>
                  </a:lnTo>
                  <a:cubicBezTo>
                    <a:pt x="2410426" y="235414"/>
                    <a:pt x="2391110" y="254729"/>
                    <a:pt x="2367284" y="254729"/>
                  </a:cubicBezTo>
                  <a:lnTo>
                    <a:pt x="43142" y="254729"/>
                  </a:lnTo>
                  <a:cubicBezTo>
                    <a:pt x="19315" y="254729"/>
                    <a:pt x="0" y="235414"/>
                    <a:pt x="0" y="211588"/>
                  </a:cubicBezTo>
                  <a:lnTo>
                    <a:pt x="0" y="43142"/>
                  </a:lnTo>
                  <a:cubicBezTo>
                    <a:pt x="0" y="19315"/>
                    <a:pt x="19315" y="0"/>
                    <a:pt x="431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0426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38800">
            <a:off x="8507692" y="-6823618"/>
            <a:ext cx="18788758" cy="9328392"/>
            <a:chOff x="0" y="0"/>
            <a:chExt cx="1557574" cy="773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886567" y="559382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6" y="0"/>
                </a:lnTo>
                <a:lnTo>
                  <a:pt x="745466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890132" y="9759185"/>
            <a:ext cx="21518857" cy="2096422"/>
            <a:chOff x="0" y="0"/>
            <a:chExt cx="5667518" cy="552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672" y="6224710"/>
            <a:ext cx="1969350" cy="712188"/>
            <a:chOff x="0" y="0"/>
            <a:chExt cx="518676" cy="187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8676" cy="187572"/>
            </a:xfrm>
            <a:custGeom>
              <a:avLst/>
              <a:gdLst/>
              <a:ahLst/>
              <a:cxnLst/>
              <a:rect r="r" b="b" t="t" l="l"/>
              <a:pathLst>
                <a:path h="187572" w="518676">
                  <a:moveTo>
                    <a:pt x="93786" y="0"/>
                  </a:moveTo>
                  <a:lnTo>
                    <a:pt x="424890" y="0"/>
                  </a:lnTo>
                  <a:cubicBezTo>
                    <a:pt x="476687" y="0"/>
                    <a:pt x="518676" y="41989"/>
                    <a:pt x="518676" y="93786"/>
                  </a:cubicBezTo>
                  <a:lnTo>
                    <a:pt x="518676" y="93786"/>
                  </a:lnTo>
                  <a:cubicBezTo>
                    <a:pt x="518676" y="118660"/>
                    <a:pt x="508795" y="142515"/>
                    <a:pt x="491207" y="160103"/>
                  </a:cubicBezTo>
                  <a:cubicBezTo>
                    <a:pt x="473619" y="177691"/>
                    <a:pt x="449764" y="187572"/>
                    <a:pt x="424890" y="187572"/>
                  </a:cubicBezTo>
                  <a:lnTo>
                    <a:pt x="93786" y="187572"/>
                  </a:lnTo>
                  <a:cubicBezTo>
                    <a:pt x="41989" y="187572"/>
                    <a:pt x="0" y="145583"/>
                    <a:pt x="0" y="93786"/>
                  </a:cubicBezTo>
                  <a:lnTo>
                    <a:pt x="0" y="93786"/>
                  </a:lnTo>
                  <a:cubicBezTo>
                    <a:pt x="0" y="41989"/>
                    <a:pt x="41989" y="0"/>
                    <a:pt x="93786" y="0"/>
                  </a:cubicBezTo>
                  <a:close/>
                </a:path>
              </a:pathLst>
            </a:custGeom>
            <a:solidFill>
              <a:srgbClr val="CAEC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18676" cy="23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1830208"/>
            <a:ext cx="2594624" cy="712188"/>
            <a:chOff x="0" y="0"/>
            <a:chExt cx="683358" cy="1875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3358" cy="187572"/>
            </a:xfrm>
            <a:custGeom>
              <a:avLst/>
              <a:gdLst/>
              <a:ahLst/>
              <a:cxnLst/>
              <a:rect r="r" b="b" t="t" l="l"/>
              <a:pathLst>
                <a:path h="187572" w="683358">
                  <a:moveTo>
                    <a:pt x="93786" y="0"/>
                  </a:moveTo>
                  <a:lnTo>
                    <a:pt x="589572" y="0"/>
                  </a:lnTo>
                  <a:cubicBezTo>
                    <a:pt x="614445" y="0"/>
                    <a:pt x="638300" y="9881"/>
                    <a:pt x="655888" y="27469"/>
                  </a:cubicBezTo>
                  <a:cubicBezTo>
                    <a:pt x="673477" y="45058"/>
                    <a:pt x="683358" y="68912"/>
                    <a:pt x="683358" y="93786"/>
                  </a:cubicBezTo>
                  <a:lnTo>
                    <a:pt x="683358" y="93786"/>
                  </a:lnTo>
                  <a:cubicBezTo>
                    <a:pt x="683358" y="145583"/>
                    <a:pt x="641368" y="187572"/>
                    <a:pt x="589572" y="187572"/>
                  </a:cubicBezTo>
                  <a:lnTo>
                    <a:pt x="93786" y="187572"/>
                  </a:lnTo>
                  <a:cubicBezTo>
                    <a:pt x="41989" y="187572"/>
                    <a:pt x="0" y="145583"/>
                    <a:pt x="0" y="93786"/>
                  </a:cubicBezTo>
                  <a:lnTo>
                    <a:pt x="0" y="93786"/>
                  </a:lnTo>
                  <a:cubicBezTo>
                    <a:pt x="0" y="41989"/>
                    <a:pt x="41989" y="0"/>
                    <a:pt x="93786" y="0"/>
                  </a:cubicBezTo>
                  <a:close/>
                </a:path>
              </a:pathLst>
            </a:custGeom>
            <a:solidFill>
              <a:srgbClr val="CAEC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83358" cy="23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Object 18" id="18"/>
          <p:cNvGraphicFramePr/>
          <p:nvPr/>
        </p:nvGraphicFramePr>
        <p:xfrm>
          <a:off x="1097672" y="2729035"/>
          <a:ext cx="15910175" cy="4309613"/>
        </p:xfrm>
        <a:graphic>
          <a:graphicData uri="http://schemas.openxmlformats.org/presentationml/2006/ole">
            <p:oleObj imgW="19088100" imgH="74930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187628" y="7075913"/>
            <a:ext cx="406738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COMSOL linear-elastic static analysis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simply supported at short edges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load = self-weight.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87060" y="753884"/>
            <a:ext cx="9313880" cy="6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TECHNICAL FEASIBILITY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545" y="6268390"/>
            <a:ext cx="17204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Method</a:t>
            </a:r>
            <a:r>
              <a:rPr lang="en-US" sz="3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7098" y="1883412"/>
            <a:ext cx="211125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Resources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83555" y="6224710"/>
            <a:ext cx="2250874" cy="712188"/>
            <a:chOff x="0" y="0"/>
            <a:chExt cx="592823" cy="1875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2823" cy="187572"/>
            </a:xfrm>
            <a:custGeom>
              <a:avLst/>
              <a:gdLst/>
              <a:ahLst/>
              <a:cxnLst/>
              <a:rect r="r" b="b" t="t" l="l"/>
              <a:pathLst>
                <a:path h="187572" w="592823">
                  <a:moveTo>
                    <a:pt x="93786" y="0"/>
                  </a:moveTo>
                  <a:lnTo>
                    <a:pt x="499037" y="0"/>
                  </a:lnTo>
                  <a:cubicBezTo>
                    <a:pt x="550833" y="0"/>
                    <a:pt x="592823" y="41989"/>
                    <a:pt x="592823" y="93786"/>
                  </a:cubicBezTo>
                  <a:lnTo>
                    <a:pt x="592823" y="93786"/>
                  </a:lnTo>
                  <a:cubicBezTo>
                    <a:pt x="592823" y="118660"/>
                    <a:pt x="582942" y="142515"/>
                    <a:pt x="565353" y="160103"/>
                  </a:cubicBezTo>
                  <a:cubicBezTo>
                    <a:pt x="547765" y="177691"/>
                    <a:pt x="523910" y="187572"/>
                    <a:pt x="499037" y="187572"/>
                  </a:cubicBezTo>
                  <a:lnTo>
                    <a:pt x="93786" y="187572"/>
                  </a:lnTo>
                  <a:cubicBezTo>
                    <a:pt x="41989" y="187572"/>
                    <a:pt x="0" y="145583"/>
                    <a:pt x="0" y="93786"/>
                  </a:cubicBezTo>
                  <a:lnTo>
                    <a:pt x="0" y="93786"/>
                  </a:lnTo>
                  <a:cubicBezTo>
                    <a:pt x="0" y="41989"/>
                    <a:pt x="41989" y="0"/>
                    <a:pt x="93786" y="0"/>
                  </a:cubicBezTo>
                  <a:close/>
                </a:path>
              </a:pathLst>
            </a:custGeom>
            <a:solidFill>
              <a:srgbClr val="CAECF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92823" cy="235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83555" y="7064494"/>
            <a:ext cx="4085741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Institutes: NERDC, UoM 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Human capability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Techno</a:t>
            </a:r>
            <a:r>
              <a:rPr lang="en-US" sz="24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logy transfer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32429" y="6285529"/>
            <a:ext cx="18623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Expertise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12960" y="1830208"/>
            <a:ext cx="5420601" cy="271030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32850" y="0"/>
                  </a:moveTo>
                  <a:lnTo>
                    <a:pt x="779950" y="0"/>
                  </a:lnTo>
                  <a:cubicBezTo>
                    <a:pt x="798093" y="0"/>
                    <a:pt x="812800" y="14707"/>
                    <a:pt x="812800" y="32850"/>
                  </a:cubicBezTo>
                  <a:lnTo>
                    <a:pt x="812800" y="373550"/>
                  </a:lnTo>
                  <a:cubicBezTo>
                    <a:pt x="812800" y="391693"/>
                    <a:pt x="798093" y="406400"/>
                    <a:pt x="779950" y="406400"/>
                  </a:cubicBezTo>
                  <a:lnTo>
                    <a:pt x="32850" y="406400"/>
                  </a:lnTo>
                  <a:cubicBezTo>
                    <a:pt x="14707" y="406400"/>
                    <a:pt x="0" y="391693"/>
                    <a:pt x="0" y="373550"/>
                  </a:cubicBezTo>
                  <a:lnTo>
                    <a:pt x="0" y="32850"/>
                  </a:lnTo>
                  <a:cubicBezTo>
                    <a:pt x="0" y="14707"/>
                    <a:pt x="14707" y="0"/>
                    <a:pt x="3285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5996" r="0" b="-34003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12960" y="5802476"/>
            <a:ext cx="5420601" cy="2710300"/>
            <a:chOff x="0" y="0"/>
            <a:chExt cx="812800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32850" y="0"/>
                  </a:moveTo>
                  <a:lnTo>
                    <a:pt x="779950" y="0"/>
                  </a:lnTo>
                  <a:cubicBezTo>
                    <a:pt x="798093" y="0"/>
                    <a:pt x="812800" y="14707"/>
                    <a:pt x="812800" y="32850"/>
                  </a:cubicBezTo>
                  <a:lnTo>
                    <a:pt x="812800" y="373550"/>
                  </a:lnTo>
                  <a:cubicBezTo>
                    <a:pt x="812800" y="391693"/>
                    <a:pt x="798093" y="406400"/>
                    <a:pt x="779950" y="406400"/>
                  </a:cubicBezTo>
                  <a:lnTo>
                    <a:pt x="32850" y="406400"/>
                  </a:lnTo>
                  <a:cubicBezTo>
                    <a:pt x="14707" y="406400"/>
                    <a:pt x="0" y="391693"/>
                    <a:pt x="0" y="373550"/>
                  </a:cubicBezTo>
                  <a:lnTo>
                    <a:pt x="0" y="32850"/>
                  </a:lnTo>
                  <a:cubicBezTo>
                    <a:pt x="0" y="14707"/>
                    <a:pt x="14707" y="0"/>
                    <a:pt x="3285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53846" b="0"/>
              </a:stretch>
            </a:blip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146342" y="4618822"/>
            <a:ext cx="3953835" cy="43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Reinforcement layout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00211" y="8620865"/>
            <a:ext cx="2446098" cy="43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2.Cured panels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-2682531" y="-1323882"/>
            <a:ext cx="4509240" cy="450924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602" y="25602"/>
              <a:ext cx="761596" cy="761596"/>
            </a:xfrm>
            <a:custGeom>
              <a:avLst/>
              <a:gdLst/>
              <a:ahLst/>
              <a:cxnLst/>
              <a:rect r="r" b="b" t="t" l="l"/>
              <a:pathLst>
                <a:path h="761596" w="761596">
                  <a:moveTo>
                    <a:pt x="424503" y="18103"/>
                  </a:moveTo>
                  <a:lnTo>
                    <a:pt x="743493" y="337093"/>
                  </a:lnTo>
                  <a:cubicBezTo>
                    <a:pt x="767631" y="361231"/>
                    <a:pt x="767631" y="400365"/>
                    <a:pt x="743493" y="424503"/>
                  </a:cubicBezTo>
                  <a:lnTo>
                    <a:pt x="424503" y="743493"/>
                  </a:lnTo>
                  <a:cubicBezTo>
                    <a:pt x="400365" y="767631"/>
                    <a:pt x="361231" y="767631"/>
                    <a:pt x="337093" y="743493"/>
                  </a:cubicBezTo>
                  <a:lnTo>
                    <a:pt x="18103" y="424503"/>
                  </a:lnTo>
                  <a:cubicBezTo>
                    <a:pt x="-6035" y="400365"/>
                    <a:pt x="-6035" y="361231"/>
                    <a:pt x="18103" y="337093"/>
                  </a:cubicBezTo>
                  <a:lnTo>
                    <a:pt x="337093" y="18103"/>
                  </a:lnTo>
                  <a:cubicBezTo>
                    <a:pt x="361231" y="-6035"/>
                    <a:pt x="400365" y="-6035"/>
                    <a:pt x="424503" y="18103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69194" y="368917"/>
            <a:ext cx="5349612" cy="967176"/>
            <a:chOff x="0" y="0"/>
            <a:chExt cx="1408951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8951" cy="254729"/>
            </a:xfrm>
            <a:custGeom>
              <a:avLst/>
              <a:gdLst/>
              <a:ahLst/>
              <a:cxnLst/>
              <a:rect r="r" b="b" t="t" l="l"/>
              <a:pathLst>
                <a:path h="254729" w="1408951">
                  <a:moveTo>
                    <a:pt x="73807" y="0"/>
                  </a:moveTo>
                  <a:lnTo>
                    <a:pt x="1335145" y="0"/>
                  </a:lnTo>
                  <a:cubicBezTo>
                    <a:pt x="1375907" y="0"/>
                    <a:pt x="1408951" y="33044"/>
                    <a:pt x="1408951" y="73807"/>
                  </a:cubicBezTo>
                  <a:lnTo>
                    <a:pt x="1408951" y="180923"/>
                  </a:lnTo>
                  <a:cubicBezTo>
                    <a:pt x="1408951" y="221685"/>
                    <a:pt x="1375907" y="254729"/>
                    <a:pt x="1335145" y="254729"/>
                  </a:cubicBezTo>
                  <a:lnTo>
                    <a:pt x="73807" y="254729"/>
                  </a:lnTo>
                  <a:cubicBezTo>
                    <a:pt x="33044" y="254729"/>
                    <a:pt x="0" y="221685"/>
                    <a:pt x="0" y="180923"/>
                  </a:cubicBezTo>
                  <a:lnTo>
                    <a:pt x="0" y="73807"/>
                  </a:lnTo>
                  <a:cubicBezTo>
                    <a:pt x="0" y="33044"/>
                    <a:pt x="33044" y="0"/>
                    <a:pt x="738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8951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92188" y="-6772912"/>
            <a:ext cx="18788758" cy="9328392"/>
            <a:chOff x="0" y="0"/>
            <a:chExt cx="1557574" cy="773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963341" y="9751614"/>
            <a:ext cx="21518857" cy="2096422"/>
            <a:chOff x="0" y="0"/>
            <a:chExt cx="5667518" cy="552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189217" y="274877"/>
            <a:ext cx="4509240" cy="45092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602" y="25602"/>
              <a:ext cx="761596" cy="761596"/>
            </a:xfrm>
            <a:custGeom>
              <a:avLst/>
              <a:gdLst/>
              <a:ahLst/>
              <a:cxnLst/>
              <a:rect r="r" b="b" t="t" l="l"/>
              <a:pathLst>
                <a:path h="761596" w="761596">
                  <a:moveTo>
                    <a:pt x="424503" y="18103"/>
                  </a:moveTo>
                  <a:lnTo>
                    <a:pt x="743493" y="337093"/>
                  </a:lnTo>
                  <a:cubicBezTo>
                    <a:pt x="767631" y="361231"/>
                    <a:pt x="767631" y="400365"/>
                    <a:pt x="743493" y="424503"/>
                  </a:cubicBezTo>
                  <a:lnTo>
                    <a:pt x="424503" y="743493"/>
                  </a:lnTo>
                  <a:cubicBezTo>
                    <a:pt x="400365" y="767631"/>
                    <a:pt x="361231" y="767631"/>
                    <a:pt x="337093" y="743493"/>
                  </a:cubicBezTo>
                  <a:lnTo>
                    <a:pt x="18103" y="424503"/>
                  </a:lnTo>
                  <a:cubicBezTo>
                    <a:pt x="-6035" y="400365"/>
                    <a:pt x="-6035" y="361231"/>
                    <a:pt x="18103" y="337093"/>
                  </a:cubicBezTo>
                  <a:lnTo>
                    <a:pt x="337093" y="18103"/>
                  </a:lnTo>
                  <a:cubicBezTo>
                    <a:pt x="361231" y="-6035"/>
                    <a:pt x="400365" y="-6035"/>
                    <a:pt x="424503" y="18103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6784" y="1655907"/>
            <a:ext cx="16574433" cy="7771020"/>
            <a:chOff x="0" y="0"/>
            <a:chExt cx="22099243" cy="103613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11004" y="337548"/>
              <a:ext cx="6402357" cy="4801767"/>
            </a:xfrm>
            <a:custGeom>
              <a:avLst/>
              <a:gdLst/>
              <a:ahLst/>
              <a:cxnLst/>
              <a:rect r="r" b="b" t="t" l="l"/>
              <a:pathLst>
                <a:path h="4801767" w="6402357">
                  <a:moveTo>
                    <a:pt x="0" y="0"/>
                  </a:moveTo>
                  <a:lnTo>
                    <a:pt x="6402357" y="0"/>
                  </a:lnTo>
                  <a:lnTo>
                    <a:pt x="6402357" y="4801767"/>
                  </a:lnTo>
                  <a:lnTo>
                    <a:pt x="0" y="480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918071" y="337548"/>
              <a:ext cx="6402357" cy="4801767"/>
            </a:xfrm>
            <a:custGeom>
              <a:avLst/>
              <a:gdLst/>
              <a:ahLst/>
              <a:cxnLst/>
              <a:rect r="r" b="b" t="t" l="l"/>
              <a:pathLst>
                <a:path h="4801767" w="6402357">
                  <a:moveTo>
                    <a:pt x="0" y="0"/>
                  </a:moveTo>
                  <a:lnTo>
                    <a:pt x="6402357" y="0"/>
                  </a:lnTo>
                  <a:lnTo>
                    <a:pt x="6402357" y="4801767"/>
                  </a:lnTo>
                  <a:lnTo>
                    <a:pt x="0" y="480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11004" y="5139315"/>
              <a:ext cx="6402357" cy="4801767"/>
            </a:xfrm>
            <a:custGeom>
              <a:avLst/>
              <a:gdLst/>
              <a:ahLst/>
              <a:cxnLst/>
              <a:rect r="r" b="b" t="t" l="l"/>
              <a:pathLst>
                <a:path h="4801767" w="6402357">
                  <a:moveTo>
                    <a:pt x="0" y="0"/>
                  </a:moveTo>
                  <a:lnTo>
                    <a:pt x="6402357" y="0"/>
                  </a:lnTo>
                  <a:lnTo>
                    <a:pt x="6402357" y="4801768"/>
                  </a:lnTo>
                  <a:lnTo>
                    <a:pt x="0" y="4801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859806" y="5139315"/>
              <a:ext cx="6402357" cy="4801767"/>
            </a:xfrm>
            <a:custGeom>
              <a:avLst/>
              <a:gdLst/>
              <a:ahLst/>
              <a:cxnLst/>
              <a:rect r="r" b="b" t="t" l="l"/>
              <a:pathLst>
                <a:path h="4801767" w="6402357">
                  <a:moveTo>
                    <a:pt x="0" y="0"/>
                  </a:moveTo>
                  <a:lnTo>
                    <a:pt x="6402357" y="0"/>
                  </a:lnTo>
                  <a:lnTo>
                    <a:pt x="6402357" y="4801768"/>
                  </a:lnTo>
                  <a:lnTo>
                    <a:pt x="0" y="4801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529395" y="274738"/>
              <a:ext cx="6569849" cy="4927387"/>
            </a:xfrm>
            <a:custGeom>
              <a:avLst/>
              <a:gdLst/>
              <a:ahLst/>
              <a:cxnLst/>
              <a:rect r="r" b="b" t="t" l="l"/>
              <a:pathLst>
                <a:path h="4927387" w="6569849">
                  <a:moveTo>
                    <a:pt x="0" y="0"/>
                  </a:moveTo>
                  <a:lnTo>
                    <a:pt x="6569848" y="0"/>
                  </a:lnTo>
                  <a:lnTo>
                    <a:pt x="6569848" y="4927387"/>
                  </a:lnTo>
                  <a:lnTo>
                    <a:pt x="0" y="492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529395" y="5013696"/>
              <a:ext cx="6569849" cy="4927387"/>
            </a:xfrm>
            <a:custGeom>
              <a:avLst/>
              <a:gdLst/>
              <a:ahLst/>
              <a:cxnLst/>
              <a:rect r="r" b="b" t="t" l="l"/>
              <a:pathLst>
                <a:path h="4927387" w="6569849">
                  <a:moveTo>
                    <a:pt x="0" y="0"/>
                  </a:moveTo>
                  <a:lnTo>
                    <a:pt x="6569848" y="0"/>
                  </a:lnTo>
                  <a:lnTo>
                    <a:pt x="6569848" y="4927387"/>
                  </a:lnTo>
                  <a:lnTo>
                    <a:pt x="0" y="492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706524" cy="10318471"/>
              <a:chOff x="0" y="0"/>
              <a:chExt cx="1347000" cy="207245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47000" cy="2072456"/>
              </a:xfrm>
              <a:custGeom>
                <a:avLst/>
                <a:gdLst/>
                <a:ahLst/>
                <a:cxnLst/>
                <a:rect r="r" b="b" t="t" l="l"/>
                <a:pathLst>
                  <a:path h="2072456" w="1347000">
                    <a:moveTo>
                      <a:pt x="77201" y="0"/>
                    </a:moveTo>
                    <a:lnTo>
                      <a:pt x="1269798" y="0"/>
                    </a:lnTo>
                    <a:cubicBezTo>
                      <a:pt x="1312436" y="0"/>
                      <a:pt x="1347000" y="34564"/>
                      <a:pt x="1347000" y="77201"/>
                    </a:cubicBezTo>
                    <a:lnTo>
                      <a:pt x="1347000" y="1995255"/>
                    </a:lnTo>
                    <a:cubicBezTo>
                      <a:pt x="1347000" y="2037892"/>
                      <a:pt x="1312436" y="2072456"/>
                      <a:pt x="1269798" y="2072456"/>
                    </a:cubicBezTo>
                    <a:lnTo>
                      <a:pt x="77201" y="2072456"/>
                    </a:lnTo>
                    <a:cubicBezTo>
                      <a:pt x="34564" y="2072456"/>
                      <a:pt x="0" y="2037892"/>
                      <a:pt x="0" y="1995255"/>
                    </a:cubicBezTo>
                    <a:lnTo>
                      <a:pt x="0" y="77201"/>
                    </a:lnTo>
                    <a:cubicBezTo>
                      <a:pt x="0" y="34564"/>
                      <a:pt x="34564" y="0"/>
                      <a:pt x="77201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347000" cy="2110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13904" y="42889"/>
              <a:ext cx="6706524" cy="10318471"/>
              <a:chOff x="0" y="0"/>
              <a:chExt cx="1347000" cy="207245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47000" cy="2072456"/>
              </a:xfrm>
              <a:custGeom>
                <a:avLst/>
                <a:gdLst/>
                <a:ahLst/>
                <a:cxnLst/>
                <a:rect r="r" b="b" t="t" l="l"/>
                <a:pathLst>
                  <a:path h="2072456" w="1347000">
                    <a:moveTo>
                      <a:pt x="77201" y="0"/>
                    </a:moveTo>
                    <a:lnTo>
                      <a:pt x="1269798" y="0"/>
                    </a:lnTo>
                    <a:cubicBezTo>
                      <a:pt x="1312436" y="0"/>
                      <a:pt x="1347000" y="34564"/>
                      <a:pt x="1347000" y="77201"/>
                    </a:cubicBezTo>
                    <a:lnTo>
                      <a:pt x="1347000" y="1995255"/>
                    </a:lnTo>
                    <a:cubicBezTo>
                      <a:pt x="1347000" y="2037892"/>
                      <a:pt x="1312436" y="2072456"/>
                      <a:pt x="1269798" y="2072456"/>
                    </a:cubicBezTo>
                    <a:lnTo>
                      <a:pt x="77201" y="2072456"/>
                    </a:lnTo>
                    <a:cubicBezTo>
                      <a:pt x="34564" y="2072456"/>
                      <a:pt x="0" y="2037892"/>
                      <a:pt x="0" y="1995255"/>
                    </a:cubicBezTo>
                    <a:lnTo>
                      <a:pt x="0" y="77201"/>
                    </a:lnTo>
                    <a:cubicBezTo>
                      <a:pt x="0" y="34564"/>
                      <a:pt x="34564" y="0"/>
                      <a:pt x="77201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347000" cy="2110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5232211" y="42889"/>
              <a:ext cx="6706524" cy="10318471"/>
              <a:chOff x="0" y="0"/>
              <a:chExt cx="1347000" cy="207245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47000" cy="2072456"/>
              </a:xfrm>
              <a:custGeom>
                <a:avLst/>
                <a:gdLst/>
                <a:ahLst/>
                <a:cxnLst/>
                <a:rect r="r" b="b" t="t" l="l"/>
                <a:pathLst>
                  <a:path h="2072456" w="1347000">
                    <a:moveTo>
                      <a:pt x="77201" y="0"/>
                    </a:moveTo>
                    <a:lnTo>
                      <a:pt x="1269798" y="0"/>
                    </a:lnTo>
                    <a:cubicBezTo>
                      <a:pt x="1312436" y="0"/>
                      <a:pt x="1347000" y="34564"/>
                      <a:pt x="1347000" y="77201"/>
                    </a:cubicBezTo>
                    <a:lnTo>
                      <a:pt x="1347000" y="1995255"/>
                    </a:lnTo>
                    <a:cubicBezTo>
                      <a:pt x="1347000" y="2037892"/>
                      <a:pt x="1312436" y="2072456"/>
                      <a:pt x="1269798" y="2072456"/>
                    </a:cubicBezTo>
                    <a:lnTo>
                      <a:pt x="77201" y="2072456"/>
                    </a:lnTo>
                    <a:cubicBezTo>
                      <a:pt x="34564" y="2072456"/>
                      <a:pt x="0" y="2037892"/>
                      <a:pt x="0" y="1995255"/>
                    </a:cubicBezTo>
                    <a:lnTo>
                      <a:pt x="0" y="77201"/>
                    </a:lnTo>
                    <a:cubicBezTo>
                      <a:pt x="0" y="34564"/>
                      <a:pt x="34564" y="0"/>
                      <a:pt x="77201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347000" cy="2110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6324053" y="4701338"/>
              <a:ext cx="1594018" cy="1001575"/>
            </a:xfrm>
            <a:custGeom>
              <a:avLst/>
              <a:gdLst/>
              <a:ahLst/>
              <a:cxnLst/>
              <a:rect r="r" b="b" t="t" l="l"/>
              <a:pathLst>
                <a:path h="1001575" w="1594018">
                  <a:moveTo>
                    <a:pt x="0" y="0"/>
                  </a:moveTo>
                  <a:lnTo>
                    <a:pt x="1594018" y="0"/>
                  </a:lnTo>
                  <a:lnTo>
                    <a:pt x="1594018" y="1001574"/>
                  </a:lnTo>
                  <a:lnTo>
                    <a:pt x="0" y="1001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3935376" y="4701338"/>
              <a:ext cx="1594018" cy="1001575"/>
            </a:xfrm>
            <a:custGeom>
              <a:avLst/>
              <a:gdLst/>
              <a:ahLst/>
              <a:cxnLst/>
              <a:rect r="r" b="b" t="t" l="l"/>
              <a:pathLst>
                <a:path h="1001575" w="1594018">
                  <a:moveTo>
                    <a:pt x="0" y="0"/>
                  </a:moveTo>
                  <a:lnTo>
                    <a:pt x="1594019" y="0"/>
                  </a:lnTo>
                  <a:lnTo>
                    <a:pt x="1594019" y="1001574"/>
                  </a:lnTo>
                  <a:lnTo>
                    <a:pt x="0" y="1001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489591" y="9712896"/>
              <a:ext cx="3727342" cy="445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1"/>
                </a:lnSpc>
                <a:spcBef>
                  <a:spcPct val="0"/>
                </a:spcBef>
              </a:pPr>
              <a:r>
                <a:rPr lang="en-US" sz="206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a) 40 mm panel (solid)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9081832" y="9725572"/>
              <a:ext cx="3770668" cy="445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1"/>
                </a:lnSpc>
                <a:spcBef>
                  <a:spcPct val="0"/>
                </a:spcBef>
              </a:pPr>
              <a:r>
                <a:rPr lang="en-US" sz="206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b) 60 mm panel (solid)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6691845" y="9725572"/>
              <a:ext cx="3787256" cy="445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1"/>
                </a:lnSpc>
                <a:spcBef>
                  <a:spcPct val="0"/>
                </a:spcBef>
              </a:pPr>
              <a:r>
                <a:rPr lang="en-US" sz="206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c) 60 mm 3-core panel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32641" y="377843"/>
            <a:ext cx="48227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 Analysis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098735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1486" y="-6859967"/>
            <a:ext cx="18788758" cy="9328392"/>
            <a:chOff x="0" y="0"/>
            <a:chExt cx="1557574" cy="773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0160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927027">
            <a:off x="16494418" y="-2519768"/>
            <a:ext cx="5057904" cy="4720220"/>
            <a:chOff x="0" y="0"/>
            <a:chExt cx="1332123" cy="12431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2123" cy="1243185"/>
            </a:xfrm>
            <a:custGeom>
              <a:avLst/>
              <a:gdLst/>
              <a:ahLst/>
              <a:cxnLst/>
              <a:rect r="r" b="b" t="t" l="l"/>
              <a:pathLst>
                <a:path h="1243185" w="1332123">
                  <a:moveTo>
                    <a:pt x="38266" y="0"/>
                  </a:moveTo>
                  <a:lnTo>
                    <a:pt x="1293856" y="0"/>
                  </a:lnTo>
                  <a:cubicBezTo>
                    <a:pt x="1304005" y="0"/>
                    <a:pt x="1313738" y="4032"/>
                    <a:pt x="1320915" y="11208"/>
                  </a:cubicBezTo>
                  <a:cubicBezTo>
                    <a:pt x="1328091" y="18384"/>
                    <a:pt x="1332123" y="28118"/>
                    <a:pt x="1332123" y="38266"/>
                  </a:cubicBezTo>
                  <a:lnTo>
                    <a:pt x="1332123" y="1204919"/>
                  </a:lnTo>
                  <a:cubicBezTo>
                    <a:pt x="1332123" y="1226053"/>
                    <a:pt x="1314990" y="1243185"/>
                    <a:pt x="1293856" y="1243185"/>
                  </a:cubicBezTo>
                  <a:lnTo>
                    <a:pt x="38266" y="1243185"/>
                  </a:lnTo>
                  <a:cubicBezTo>
                    <a:pt x="17132" y="1243185"/>
                    <a:pt x="0" y="1226053"/>
                    <a:pt x="0" y="1204919"/>
                  </a:cubicBezTo>
                  <a:lnTo>
                    <a:pt x="0" y="38266"/>
                  </a:lnTo>
                  <a:cubicBezTo>
                    <a:pt x="0" y="17132"/>
                    <a:pt x="17132" y="0"/>
                    <a:pt x="38266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2123" cy="1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22536" y="9666288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672326" y="368917"/>
            <a:ext cx="6943349" cy="967176"/>
            <a:chOff x="0" y="0"/>
            <a:chExt cx="9257798" cy="128956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257798" cy="1289568"/>
              <a:chOff x="0" y="0"/>
              <a:chExt cx="1828701" cy="25472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701" cy="254729"/>
              </a:xfrm>
              <a:custGeom>
                <a:avLst/>
                <a:gdLst/>
                <a:ahLst/>
                <a:cxnLst/>
                <a:rect r="r" b="b" t="t" l="l"/>
                <a:pathLst>
                  <a:path h="254729" w="1828701">
                    <a:moveTo>
                      <a:pt x="56866" y="0"/>
                    </a:moveTo>
                    <a:lnTo>
                      <a:pt x="1771835" y="0"/>
                    </a:lnTo>
                    <a:cubicBezTo>
                      <a:pt x="1786917" y="0"/>
                      <a:pt x="1801381" y="5991"/>
                      <a:pt x="1812045" y="16656"/>
                    </a:cubicBezTo>
                    <a:cubicBezTo>
                      <a:pt x="1822710" y="27320"/>
                      <a:pt x="1828701" y="41784"/>
                      <a:pt x="1828701" y="56866"/>
                    </a:cubicBezTo>
                    <a:lnTo>
                      <a:pt x="1828701" y="197864"/>
                    </a:lnTo>
                    <a:cubicBezTo>
                      <a:pt x="1828701" y="229270"/>
                      <a:pt x="1803241" y="254729"/>
                      <a:pt x="1771835" y="254729"/>
                    </a:cubicBezTo>
                    <a:lnTo>
                      <a:pt x="56866" y="254729"/>
                    </a:lnTo>
                    <a:cubicBezTo>
                      <a:pt x="41784" y="254729"/>
                      <a:pt x="27320" y="248738"/>
                      <a:pt x="16656" y="238074"/>
                    </a:cubicBezTo>
                    <a:cubicBezTo>
                      <a:pt x="5991" y="227410"/>
                      <a:pt x="0" y="212946"/>
                      <a:pt x="0" y="197864"/>
                    </a:cubicBezTo>
                    <a:lnTo>
                      <a:pt x="0" y="56866"/>
                    </a:lnTo>
                    <a:cubicBezTo>
                      <a:pt x="0" y="41784"/>
                      <a:pt x="5991" y="27320"/>
                      <a:pt x="16656" y="16656"/>
                    </a:cubicBezTo>
                    <a:cubicBezTo>
                      <a:pt x="27320" y="5991"/>
                      <a:pt x="41784" y="0"/>
                      <a:pt x="5686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CE1E6">
                      <a:alpha val="100000"/>
                    </a:srgbClr>
                  </a:gs>
                  <a:gs pos="100000">
                    <a:srgbClr val="0079A7">
                      <a:alpha val="155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828701" cy="302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5843" y="43651"/>
              <a:ext cx="904195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Financial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3378" y="1882074"/>
            <a:ext cx="5768093" cy="4606903"/>
            <a:chOff x="0" y="0"/>
            <a:chExt cx="7690791" cy="614253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674143" cy="1165728"/>
              <a:chOff x="0" y="0"/>
              <a:chExt cx="1515880" cy="23026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15880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1515880">
                    <a:moveTo>
                      <a:pt x="0" y="0"/>
                    </a:moveTo>
                    <a:lnTo>
                      <a:pt x="1515880" y="0"/>
                    </a:lnTo>
                    <a:lnTo>
                      <a:pt x="1515880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8BD1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515880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28990" y="1297487"/>
              <a:ext cx="7261801" cy="4845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Capital Expenditure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Operational and Maintenance Costs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Tax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Total Cost per panel ⁓ 4200 LKR 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1173" y="173712"/>
              <a:ext cx="6278862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Cash Outflows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3378" y="6272340"/>
            <a:ext cx="5768093" cy="3559153"/>
            <a:chOff x="0" y="0"/>
            <a:chExt cx="7690791" cy="474553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690791" cy="1165728"/>
              <a:chOff x="0" y="0"/>
              <a:chExt cx="1519169" cy="23026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19169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1519169">
                    <a:moveTo>
                      <a:pt x="0" y="0"/>
                    </a:moveTo>
                    <a:lnTo>
                      <a:pt x="1519169" y="0"/>
                    </a:lnTo>
                    <a:lnTo>
                      <a:pt x="1519169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519169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3237" y="1297487"/>
              <a:ext cx="7277554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Panel Sales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Salvage Value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Selling Price of a panel = 7000 LKR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13237" y="173712"/>
              <a:ext cx="6292483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Cash Inflows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805975" y="1432288"/>
            <a:ext cx="8991593" cy="4268074"/>
          </a:xfrm>
          <a:custGeom>
            <a:avLst/>
            <a:gdLst/>
            <a:ahLst/>
            <a:cxnLst/>
            <a:rect r="r" b="b" t="t" l="l"/>
            <a:pathLst>
              <a:path h="4268074" w="8991593">
                <a:moveTo>
                  <a:pt x="0" y="0"/>
                </a:moveTo>
                <a:lnTo>
                  <a:pt x="8991593" y="0"/>
                </a:lnTo>
                <a:lnTo>
                  <a:pt x="8991593" y="4268074"/>
                </a:lnTo>
                <a:lnTo>
                  <a:pt x="0" y="42680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76" t="0" r="0" b="-77295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805975" y="5905264"/>
            <a:ext cx="8991593" cy="2934696"/>
          </a:xfrm>
          <a:custGeom>
            <a:avLst/>
            <a:gdLst/>
            <a:ahLst/>
            <a:cxnLst/>
            <a:rect r="r" b="b" t="t" l="l"/>
            <a:pathLst>
              <a:path h="2934696" w="8991593">
                <a:moveTo>
                  <a:pt x="0" y="0"/>
                </a:moveTo>
                <a:lnTo>
                  <a:pt x="8991593" y="0"/>
                </a:lnTo>
                <a:lnTo>
                  <a:pt x="8991593" y="2934696"/>
                </a:lnTo>
                <a:lnTo>
                  <a:pt x="0" y="2934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40" t="-157070" r="0" b="-939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-963341" y="9751614"/>
            <a:ext cx="21518857" cy="2096422"/>
            <a:chOff x="0" y="0"/>
            <a:chExt cx="5667518" cy="552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0160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927027">
            <a:off x="16494418" y="-2519768"/>
            <a:ext cx="5057904" cy="4720220"/>
            <a:chOff x="0" y="0"/>
            <a:chExt cx="1332123" cy="1243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2123" cy="1243185"/>
            </a:xfrm>
            <a:custGeom>
              <a:avLst/>
              <a:gdLst/>
              <a:ahLst/>
              <a:cxnLst/>
              <a:rect r="r" b="b" t="t" l="l"/>
              <a:pathLst>
                <a:path h="1243185" w="1332123">
                  <a:moveTo>
                    <a:pt x="38266" y="0"/>
                  </a:moveTo>
                  <a:lnTo>
                    <a:pt x="1293856" y="0"/>
                  </a:lnTo>
                  <a:cubicBezTo>
                    <a:pt x="1304005" y="0"/>
                    <a:pt x="1313738" y="4032"/>
                    <a:pt x="1320915" y="11208"/>
                  </a:cubicBezTo>
                  <a:cubicBezTo>
                    <a:pt x="1328091" y="18384"/>
                    <a:pt x="1332123" y="28118"/>
                    <a:pt x="1332123" y="38266"/>
                  </a:cubicBezTo>
                  <a:lnTo>
                    <a:pt x="1332123" y="1204919"/>
                  </a:lnTo>
                  <a:cubicBezTo>
                    <a:pt x="1332123" y="1226053"/>
                    <a:pt x="1314990" y="1243185"/>
                    <a:pt x="1293856" y="1243185"/>
                  </a:cubicBezTo>
                  <a:lnTo>
                    <a:pt x="38266" y="1243185"/>
                  </a:lnTo>
                  <a:cubicBezTo>
                    <a:pt x="17132" y="1243185"/>
                    <a:pt x="0" y="1226053"/>
                    <a:pt x="0" y="1204919"/>
                  </a:cubicBezTo>
                  <a:lnTo>
                    <a:pt x="0" y="38266"/>
                  </a:lnTo>
                  <a:cubicBezTo>
                    <a:pt x="0" y="17132"/>
                    <a:pt x="17132" y="0"/>
                    <a:pt x="38266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32123" cy="1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507197" y="8594775"/>
            <a:ext cx="1701700" cy="17017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7841" y="67841"/>
              <a:ext cx="677118" cy="677118"/>
            </a:xfrm>
            <a:custGeom>
              <a:avLst/>
              <a:gdLst/>
              <a:ahLst/>
              <a:cxnLst/>
              <a:rect r="r" b="b" t="t" l="l"/>
              <a:pathLst>
                <a:path h="677118" w="677118">
                  <a:moveTo>
                    <a:pt x="454371" y="47971"/>
                  </a:moveTo>
                  <a:lnTo>
                    <a:pt x="629147" y="222747"/>
                  </a:lnTo>
                  <a:cubicBezTo>
                    <a:pt x="693108" y="286708"/>
                    <a:pt x="693108" y="390410"/>
                    <a:pt x="629147" y="454371"/>
                  </a:cubicBezTo>
                  <a:lnTo>
                    <a:pt x="454371" y="629147"/>
                  </a:lnTo>
                  <a:cubicBezTo>
                    <a:pt x="390410" y="693108"/>
                    <a:pt x="286708" y="693108"/>
                    <a:pt x="222747" y="629147"/>
                  </a:cubicBezTo>
                  <a:lnTo>
                    <a:pt x="47971" y="454371"/>
                  </a:lnTo>
                  <a:cubicBezTo>
                    <a:pt x="-15990" y="390410"/>
                    <a:pt x="-15990" y="286708"/>
                    <a:pt x="47971" y="222747"/>
                  </a:cubicBezTo>
                  <a:lnTo>
                    <a:pt x="222747" y="47971"/>
                  </a:lnTo>
                  <a:cubicBezTo>
                    <a:pt x="286708" y="-15990"/>
                    <a:pt x="390410" y="-15990"/>
                    <a:pt x="454371" y="47971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66697" y="3363924"/>
            <a:ext cx="5621303" cy="3559153"/>
            <a:chOff x="0" y="0"/>
            <a:chExt cx="7495070" cy="474553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495070" cy="1165728"/>
              <a:chOff x="0" y="0"/>
              <a:chExt cx="1480508" cy="23026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80508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1480508">
                    <a:moveTo>
                      <a:pt x="0" y="0"/>
                    </a:moveTo>
                    <a:lnTo>
                      <a:pt x="1480508" y="0"/>
                    </a:lnTo>
                    <a:lnTo>
                      <a:pt x="1480508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480508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4668" y="1297487"/>
              <a:ext cx="7060402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NPV: 12.45 LKR mn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IRR: 26.36%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BCR: 1.204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Disc. PBP: 3.25 ✅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4668" y="173712"/>
              <a:ext cx="7060402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Performance Indicators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0753" y="238670"/>
            <a:ext cx="12495945" cy="4717219"/>
          </a:xfrm>
          <a:custGeom>
            <a:avLst/>
            <a:gdLst/>
            <a:ahLst/>
            <a:cxnLst/>
            <a:rect r="r" b="b" t="t" l="l"/>
            <a:pathLst>
              <a:path h="4717219" w="12495945">
                <a:moveTo>
                  <a:pt x="0" y="0"/>
                </a:moveTo>
                <a:lnTo>
                  <a:pt x="12495944" y="0"/>
                </a:lnTo>
                <a:lnTo>
                  <a:pt x="12495944" y="4717219"/>
                </a:lnTo>
                <a:lnTo>
                  <a:pt x="0" y="471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1096" y="5051139"/>
            <a:ext cx="11675257" cy="4991172"/>
          </a:xfrm>
          <a:custGeom>
            <a:avLst/>
            <a:gdLst/>
            <a:ahLst/>
            <a:cxnLst/>
            <a:rect r="r" b="b" t="t" l="l"/>
            <a:pathLst>
              <a:path h="4991172" w="11675257">
                <a:moveTo>
                  <a:pt x="0" y="0"/>
                </a:moveTo>
                <a:lnTo>
                  <a:pt x="11675258" y="0"/>
                </a:lnTo>
                <a:lnTo>
                  <a:pt x="11675258" y="4991173"/>
                </a:lnTo>
                <a:lnTo>
                  <a:pt x="0" y="4991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1486" y="-7234992"/>
            <a:ext cx="18788758" cy="9328392"/>
            <a:chOff x="0" y="0"/>
            <a:chExt cx="1557574" cy="773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0160" y="36891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927027">
            <a:off x="16494418" y="-2519768"/>
            <a:ext cx="5057904" cy="4720220"/>
            <a:chOff x="0" y="0"/>
            <a:chExt cx="1332123" cy="12431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2123" cy="1243185"/>
            </a:xfrm>
            <a:custGeom>
              <a:avLst/>
              <a:gdLst/>
              <a:ahLst/>
              <a:cxnLst/>
              <a:rect r="r" b="b" t="t" l="l"/>
              <a:pathLst>
                <a:path h="1243185" w="1332123">
                  <a:moveTo>
                    <a:pt x="38266" y="0"/>
                  </a:moveTo>
                  <a:lnTo>
                    <a:pt x="1293856" y="0"/>
                  </a:lnTo>
                  <a:cubicBezTo>
                    <a:pt x="1304005" y="0"/>
                    <a:pt x="1313738" y="4032"/>
                    <a:pt x="1320915" y="11208"/>
                  </a:cubicBezTo>
                  <a:cubicBezTo>
                    <a:pt x="1328091" y="18384"/>
                    <a:pt x="1332123" y="28118"/>
                    <a:pt x="1332123" y="38266"/>
                  </a:cubicBezTo>
                  <a:lnTo>
                    <a:pt x="1332123" y="1204919"/>
                  </a:lnTo>
                  <a:cubicBezTo>
                    <a:pt x="1332123" y="1226053"/>
                    <a:pt x="1314990" y="1243185"/>
                    <a:pt x="1293856" y="1243185"/>
                  </a:cubicBezTo>
                  <a:lnTo>
                    <a:pt x="38266" y="1243185"/>
                  </a:lnTo>
                  <a:cubicBezTo>
                    <a:pt x="17132" y="1243185"/>
                    <a:pt x="0" y="1226053"/>
                    <a:pt x="0" y="1204919"/>
                  </a:cubicBezTo>
                  <a:lnTo>
                    <a:pt x="0" y="38266"/>
                  </a:lnTo>
                  <a:cubicBezTo>
                    <a:pt x="0" y="17132"/>
                    <a:pt x="17132" y="0"/>
                    <a:pt x="38266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2123" cy="1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19361" y="368917"/>
            <a:ext cx="7649279" cy="967176"/>
            <a:chOff x="0" y="0"/>
            <a:chExt cx="2014625" cy="254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4625" cy="254729"/>
            </a:xfrm>
            <a:custGeom>
              <a:avLst/>
              <a:gdLst/>
              <a:ahLst/>
              <a:cxnLst/>
              <a:rect r="r" b="b" t="t" l="l"/>
              <a:pathLst>
                <a:path h="254729" w="2014625">
                  <a:moveTo>
                    <a:pt x="51618" y="0"/>
                  </a:moveTo>
                  <a:lnTo>
                    <a:pt x="1963007" y="0"/>
                  </a:lnTo>
                  <a:cubicBezTo>
                    <a:pt x="1991515" y="0"/>
                    <a:pt x="2014625" y="23110"/>
                    <a:pt x="2014625" y="51618"/>
                  </a:cubicBezTo>
                  <a:lnTo>
                    <a:pt x="2014625" y="203112"/>
                  </a:lnTo>
                  <a:cubicBezTo>
                    <a:pt x="2014625" y="231619"/>
                    <a:pt x="1991515" y="254729"/>
                    <a:pt x="1963007" y="254729"/>
                  </a:cubicBezTo>
                  <a:lnTo>
                    <a:pt x="51618" y="254729"/>
                  </a:lnTo>
                  <a:cubicBezTo>
                    <a:pt x="23110" y="254729"/>
                    <a:pt x="0" y="231619"/>
                    <a:pt x="0" y="203112"/>
                  </a:cubicBezTo>
                  <a:lnTo>
                    <a:pt x="0" y="51618"/>
                  </a:lnTo>
                  <a:cubicBezTo>
                    <a:pt x="0" y="23110"/>
                    <a:pt x="23110" y="0"/>
                    <a:pt x="516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4625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34208" y="377843"/>
            <a:ext cx="678146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Economical Analysis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37807" y="1944554"/>
            <a:ext cx="8296584" cy="3559153"/>
            <a:chOff x="0" y="0"/>
            <a:chExt cx="11062112" cy="474553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038167" cy="1165728"/>
              <a:chOff x="0" y="0"/>
              <a:chExt cx="2180379" cy="23026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80379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2180379">
                    <a:moveTo>
                      <a:pt x="0" y="0"/>
                    </a:moveTo>
                    <a:lnTo>
                      <a:pt x="2180379" y="0"/>
                    </a:lnTo>
                    <a:lnTo>
                      <a:pt x="2180379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8BD1E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180379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17041" y="1297487"/>
              <a:ext cx="10445071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Capital Expenditure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Materials &amp; Labour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Operation &amp; Maintenance</a:t>
              </a:r>
            </a:p>
            <a:p>
              <a:pPr algn="l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Environmental Management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91415" y="173712"/>
              <a:ext cx="9031253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Costs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24941" y="1944554"/>
            <a:ext cx="8260909" cy="3559153"/>
            <a:chOff x="0" y="0"/>
            <a:chExt cx="11014545" cy="474553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1014545" cy="1165728"/>
              <a:chOff x="0" y="0"/>
              <a:chExt cx="2175713" cy="2302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75713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2175713">
                    <a:moveTo>
                      <a:pt x="0" y="0"/>
                    </a:moveTo>
                    <a:lnTo>
                      <a:pt x="2175713" y="0"/>
                    </a:lnTo>
                    <a:lnTo>
                      <a:pt x="2175713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175713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91827" y="1297487"/>
              <a:ext cx="10422718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Panel Sales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Employment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Environmental Benefits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Time Saving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Salvage Value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91827" y="173712"/>
              <a:ext cx="9011926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Benefits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34208" y="6105406"/>
            <a:ext cx="5753665" cy="3559153"/>
            <a:chOff x="0" y="0"/>
            <a:chExt cx="7671553" cy="474553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671553" cy="1165728"/>
              <a:chOff x="0" y="0"/>
              <a:chExt cx="1515368" cy="23026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515368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1515368">
                    <a:moveTo>
                      <a:pt x="0" y="0"/>
                    </a:moveTo>
                    <a:lnTo>
                      <a:pt x="1515368" y="0"/>
                    </a:lnTo>
                    <a:lnTo>
                      <a:pt x="1515368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515368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44903" y="1297487"/>
              <a:ext cx="7226650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NPV: 30.1 LKR mn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IRR: 37.4%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BCR: 1.8792 ✅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Disc. PBP: 1.83 ✅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44903" y="173712"/>
              <a:ext cx="722665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Performance Indicators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10272956" y="6374138"/>
            <a:ext cx="11618257" cy="5768325"/>
            <a:chOff x="0" y="0"/>
            <a:chExt cx="1557574" cy="7733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2120" y="0"/>
              <a:ext cx="1493333" cy="750796"/>
            </a:xfrm>
            <a:custGeom>
              <a:avLst/>
              <a:gdLst/>
              <a:ahLst/>
              <a:cxnLst/>
              <a:rect r="r" b="b" t="t" l="l"/>
              <a:pathLst>
                <a:path h="750796" w="1493333">
                  <a:moveTo>
                    <a:pt x="785440" y="734816"/>
                  </a:moveTo>
                  <a:lnTo>
                    <a:pt x="1486681" y="38501"/>
                  </a:lnTo>
                  <a:cubicBezTo>
                    <a:pt x="1493154" y="32073"/>
                    <a:pt x="1495110" y="22374"/>
                    <a:pt x="1491634" y="13939"/>
                  </a:cubicBezTo>
                  <a:cubicBezTo>
                    <a:pt x="1488157" y="5504"/>
                    <a:pt x="1479935" y="0"/>
                    <a:pt x="1470812" y="0"/>
                  </a:cubicBezTo>
                  <a:lnTo>
                    <a:pt x="22521" y="0"/>
                  </a:lnTo>
                  <a:cubicBezTo>
                    <a:pt x="13398" y="0"/>
                    <a:pt x="5176" y="5504"/>
                    <a:pt x="1700" y="13939"/>
                  </a:cubicBezTo>
                  <a:cubicBezTo>
                    <a:pt x="-1776" y="22374"/>
                    <a:pt x="179" y="32073"/>
                    <a:pt x="6653" y="38501"/>
                  </a:cubicBezTo>
                  <a:lnTo>
                    <a:pt x="707894" y="734816"/>
                  </a:lnTo>
                  <a:cubicBezTo>
                    <a:pt x="729352" y="756123"/>
                    <a:pt x="763982" y="756123"/>
                    <a:pt x="785440" y="73481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13835" y="8609938"/>
            <a:ext cx="1671374" cy="16713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7967" y="47967"/>
              <a:ext cx="716867" cy="716867"/>
            </a:xfrm>
            <a:custGeom>
              <a:avLst/>
              <a:gdLst/>
              <a:ahLst/>
              <a:cxnLst/>
              <a:rect r="r" b="b" t="t" l="l"/>
              <a:pathLst>
                <a:path h="716867" w="716867">
                  <a:moveTo>
                    <a:pt x="440317" y="33917"/>
                  </a:moveTo>
                  <a:lnTo>
                    <a:pt x="682949" y="276549"/>
                  </a:lnTo>
                  <a:cubicBezTo>
                    <a:pt x="728172" y="321772"/>
                    <a:pt x="728172" y="395094"/>
                    <a:pt x="682949" y="440317"/>
                  </a:cubicBezTo>
                  <a:lnTo>
                    <a:pt x="440317" y="682949"/>
                  </a:lnTo>
                  <a:cubicBezTo>
                    <a:pt x="395094" y="728172"/>
                    <a:pt x="321772" y="728172"/>
                    <a:pt x="276549" y="682949"/>
                  </a:cubicBezTo>
                  <a:lnTo>
                    <a:pt x="33917" y="440317"/>
                  </a:lnTo>
                  <a:cubicBezTo>
                    <a:pt x="-11306" y="395094"/>
                    <a:pt x="-11306" y="321772"/>
                    <a:pt x="33917" y="276549"/>
                  </a:cubicBezTo>
                  <a:lnTo>
                    <a:pt x="276549" y="33917"/>
                  </a:lnTo>
                  <a:cubicBezTo>
                    <a:pt x="321772" y="-11306"/>
                    <a:pt x="395094" y="-11306"/>
                    <a:pt x="440317" y="33917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4921" y="-5770084"/>
            <a:ext cx="18788758" cy="9328392"/>
            <a:chOff x="0" y="0"/>
            <a:chExt cx="1557574" cy="773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21971" y="473093"/>
            <a:ext cx="8196858" cy="967176"/>
            <a:chOff x="0" y="0"/>
            <a:chExt cx="2158843" cy="254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8843" cy="254729"/>
            </a:xfrm>
            <a:custGeom>
              <a:avLst/>
              <a:gdLst/>
              <a:ahLst/>
              <a:cxnLst/>
              <a:rect r="r" b="b" t="t" l="l"/>
              <a:pathLst>
                <a:path h="254729" w="2158843">
                  <a:moveTo>
                    <a:pt x="48169" y="0"/>
                  </a:moveTo>
                  <a:lnTo>
                    <a:pt x="2110674" y="0"/>
                  </a:lnTo>
                  <a:cubicBezTo>
                    <a:pt x="2123449" y="0"/>
                    <a:pt x="2135701" y="5075"/>
                    <a:pt x="2144735" y="14108"/>
                  </a:cubicBezTo>
                  <a:cubicBezTo>
                    <a:pt x="2153769" y="23142"/>
                    <a:pt x="2158843" y="35394"/>
                    <a:pt x="2158843" y="48169"/>
                  </a:cubicBezTo>
                  <a:lnTo>
                    <a:pt x="2158843" y="206560"/>
                  </a:lnTo>
                  <a:cubicBezTo>
                    <a:pt x="2158843" y="233163"/>
                    <a:pt x="2137277" y="254729"/>
                    <a:pt x="2110674" y="254729"/>
                  </a:cubicBezTo>
                  <a:lnTo>
                    <a:pt x="48169" y="254729"/>
                  </a:lnTo>
                  <a:cubicBezTo>
                    <a:pt x="21566" y="254729"/>
                    <a:pt x="0" y="233163"/>
                    <a:pt x="0" y="206560"/>
                  </a:cubicBezTo>
                  <a:lnTo>
                    <a:pt x="0" y="48169"/>
                  </a:lnTo>
                  <a:cubicBezTo>
                    <a:pt x="0" y="21566"/>
                    <a:pt x="21566" y="0"/>
                    <a:pt x="48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8843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611019" y="577268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6" y="0"/>
                </a:lnTo>
                <a:lnTo>
                  <a:pt x="745466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543604" y="-2391178"/>
            <a:ext cx="7454541" cy="74545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8392" y="28392"/>
              <a:ext cx="756016" cy="756016"/>
            </a:xfrm>
            <a:custGeom>
              <a:avLst/>
              <a:gdLst/>
              <a:ahLst/>
              <a:cxnLst/>
              <a:rect r="r" b="b" t="t" l="l"/>
              <a:pathLst>
                <a:path h="756016" w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4899341" y="6541076"/>
            <a:ext cx="8871394" cy="887139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037" y="9037"/>
              <a:ext cx="794726" cy="794726"/>
            </a:xfrm>
            <a:custGeom>
              <a:avLst/>
              <a:gdLst/>
              <a:ahLst/>
              <a:cxnLst/>
              <a:rect r="r" b="b" t="t" l="l"/>
              <a:pathLst>
                <a:path h="794726" w="794726">
                  <a:moveTo>
                    <a:pt x="412790" y="6390"/>
                  </a:moveTo>
                  <a:lnTo>
                    <a:pt x="788336" y="381936"/>
                  </a:lnTo>
                  <a:cubicBezTo>
                    <a:pt x="792428" y="386027"/>
                    <a:pt x="794726" y="391577"/>
                    <a:pt x="794726" y="397363"/>
                  </a:cubicBezTo>
                  <a:cubicBezTo>
                    <a:pt x="794726" y="403149"/>
                    <a:pt x="792428" y="408698"/>
                    <a:pt x="788336" y="412790"/>
                  </a:cubicBezTo>
                  <a:lnTo>
                    <a:pt x="412790" y="788336"/>
                  </a:lnTo>
                  <a:cubicBezTo>
                    <a:pt x="408698" y="792428"/>
                    <a:pt x="403149" y="794726"/>
                    <a:pt x="397363" y="794726"/>
                  </a:cubicBezTo>
                  <a:cubicBezTo>
                    <a:pt x="391577" y="794726"/>
                    <a:pt x="386027" y="792428"/>
                    <a:pt x="381936" y="788336"/>
                  </a:cubicBezTo>
                  <a:lnTo>
                    <a:pt x="6390" y="412790"/>
                  </a:lnTo>
                  <a:cubicBezTo>
                    <a:pt x="2299" y="408698"/>
                    <a:pt x="0" y="403149"/>
                    <a:pt x="0" y="397363"/>
                  </a:cubicBezTo>
                  <a:cubicBezTo>
                    <a:pt x="0" y="391577"/>
                    <a:pt x="2299" y="386027"/>
                    <a:pt x="6390" y="381936"/>
                  </a:cubicBezTo>
                  <a:lnTo>
                    <a:pt x="381936" y="6390"/>
                  </a:lnTo>
                  <a:cubicBezTo>
                    <a:pt x="386027" y="2299"/>
                    <a:pt x="391577" y="0"/>
                    <a:pt x="397363" y="0"/>
                  </a:cubicBezTo>
                  <a:cubicBezTo>
                    <a:pt x="403149" y="0"/>
                    <a:pt x="408698" y="2299"/>
                    <a:pt x="412790" y="639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aphicFrame>
        <p:nvGraphicFramePr>
          <p:cNvPr name="Object 18" id="18"/>
          <p:cNvGraphicFramePr/>
          <p:nvPr/>
        </p:nvGraphicFramePr>
        <p:xfrm>
          <a:off x="3414351" y="2153476"/>
          <a:ext cx="7543800" cy="3966210"/>
        </p:xfrm>
        <a:graphic>
          <a:graphicData uri="http://schemas.openxmlformats.org/presentationml/2006/ole">
            <p:oleObj imgW="9042400" imgH="5473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5342841" y="482018"/>
            <a:ext cx="76023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 Criteria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28397" y="237719"/>
            <a:ext cx="7431206" cy="967176"/>
            <a:chOff x="0" y="0"/>
            <a:chExt cx="1957190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7190" cy="254729"/>
            </a:xfrm>
            <a:custGeom>
              <a:avLst/>
              <a:gdLst/>
              <a:ahLst/>
              <a:cxnLst/>
              <a:rect r="r" b="b" t="t" l="l"/>
              <a:pathLst>
                <a:path h="254729" w="1957190">
                  <a:moveTo>
                    <a:pt x="53132" y="0"/>
                  </a:moveTo>
                  <a:lnTo>
                    <a:pt x="1904058" y="0"/>
                  </a:lnTo>
                  <a:cubicBezTo>
                    <a:pt x="1933402" y="0"/>
                    <a:pt x="1957190" y="23788"/>
                    <a:pt x="1957190" y="53132"/>
                  </a:cubicBezTo>
                  <a:lnTo>
                    <a:pt x="1957190" y="201597"/>
                  </a:lnTo>
                  <a:cubicBezTo>
                    <a:pt x="1957190" y="215689"/>
                    <a:pt x="1951592" y="229203"/>
                    <a:pt x="1941628" y="239167"/>
                  </a:cubicBezTo>
                  <a:cubicBezTo>
                    <a:pt x="1931664" y="249132"/>
                    <a:pt x="1918149" y="254729"/>
                    <a:pt x="1904058" y="254729"/>
                  </a:cubicBezTo>
                  <a:lnTo>
                    <a:pt x="53132" y="254729"/>
                  </a:lnTo>
                  <a:cubicBezTo>
                    <a:pt x="39041" y="254729"/>
                    <a:pt x="25526" y="249132"/>
                    <a:pt x="15562" y="239167"/>
                  </a:cubicBezTo>
                  <a:cubicBezTo>
                    <a:pt x="5598" y="229203"/>
                    <a:pt x="0" y="215689"/>
                    <a:pt x="0" y="201597"/>
                  </a:cubicBezTo>
                  <a:lnTo>
                    <a:pt x="0" y="53132"/>
                  </a:lnTo>
                  <a:cubicBezTo>
                    <a:pt x="0" y="39041"/>
                    <a:pt x="5598" y="25526"/>
                    <a:pt x="15562" y="15562"/>
                  </a:cubicBezTo>
                  <a:cubicBezTo>
                    <a:pt x="25526" y="5598"/>
                    <a:pt x="39041" y="0"/>
                    <a:pt x="531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57190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19456" y="-6468217"/>
            <a:ext cx="18788758" cy="9328392"/>
            <a:chOff x="0" y="0"/>
            <a:chExt cx="1557574" cy="773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16671" y="1028700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211774" y="3219988"/>
            <a:ext cx="4928124" cy="874296"/>
            <a:chOff x="0" y="0"/>
            <a:chExt cx="1297942" cy="2302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7942" cy="230267"/>
            </a:xfrm>
            <a:custGeom>
              <a:avLst/>
              <a:gdLst/>
              <a:ahLst/>
              <a:cxnLst/>
              <a:rect r="r" b="b" t="t" l="l"/>
              <a:pathLst>
                <a:path h="230267" w="1297942">
                  <a:moveTo>
                    <a:pt x="0" y="0"/>
                  </a:moveTo>
                  <a:lnTo>
                    <a:pt x="1297942" y="0"/>
                  </a:lnTo>
                  <a:lnTo>
                    <a:pt x="1297942" y="230267"/>
                  </a:lnTo>
                  <a:lnTo>
                    <a:pt x="0" y="230267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97942" cy="268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11774" y="4178816"/>
            <a:ext cx="4928124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Selling Price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Material Cost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Discount Rate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08800" y="3333603"/>
            <a:ext cx="40332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 Factors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1166471" y="9778043"/>
            <a:ext cx="21518857" cy="2096422"/>
            <a:chOff x="0" y="0"/>
            <a:chExt cx="5667518" cy="552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79685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73009" y="1504717"/>
            <a:ext cx="12911558" cy="3687451"/>
          </a:xfrm>
          <a:custGeom>
            <a:avLst/>
            <a:gdLst/>
            <a:ahLst/>
            <a:cxnLst/>
            <a:rect r="r" b="b" t="t" l="l"/>
            <a:pathLst>
              <a:path h="3687451" w="12911558">
                <a:moveTo>
                  <a:pt x="0" y="0"/>
                </a:moveTo>
                <a:lnTo>
                  <a:pt x="12911558" y="0"/>
                </a:lnTo>
                <a:lnTo>
                  <a:pt x="12911558" y="3687451"/>
                </a:lnTo>
                <a:lnTo>
                  <a:pt x="0" y="3687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5087" b="-161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552414" y="246644"/>
            <a:ext cx="718317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Sensitivity Analysis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3009" y="5315775"/>
            <a:ext cx="12911558" cy="3943700"/>
          </a:xfrm>
          <a:custGeom>
            <a:avLst/>
            <a:gdLst/>
            <a:ahLst/>
            <a:cxnLst/>
            <a:rect r="r" b="b" t="t" l="l"/>
            <a:pathLst>
              <a:path h="3943700" w="12911558">
                <a:moveTo>
                  <a:pt x="0" y="0"/>
                </a:moveTo>
                <a:lnTo>
                  <a:pt x="12911558" y="0"/>
                </a:lnTo>
                <a:lnTo>
                  <a:pt x="12911558" y="3943700"/>
                </a:lnTo>
                <a:lnTo>
                  <a:pt x="0" y="394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337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1531" y="368917"/>
            <a:ext cx="8304938" cy="967176"/>
            <a:chOff x="0" y="0"/>
            <a:chExt cx="2187309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7309" cy="254729"/>
            </a:xfrm>
            <a:custGeom>
              <a:avLst/>
              <a:gdLst/>
              <a:ahLst/>
              <a:cxnLst/>
              <a:rect r="r" b="b" t="t" l="l"/>
              <a:pathLst>
                <a:path h="254729" w="2187309">
                  <a:moveTo>
                    <a:pt x="47543" y="0"/>
                  </a:moveTo>
                  <a:lnTo>
                    <a:pt x="2139766" y="0"/>
                  </a:lnTo>
                  <a:cubicBezTo>
                    <a:pt x="2166023" y="0"/>
                    <a:pt x="2187309" y="21286"/>
                    <a:pt x="2187309" y="47543"/>
                  </a:cubicBezTo>
                  <a:lnTo>
                    <a:pt x="2187309" y="207187"/>
                  </a:lnTo>
                  <a:cubicBezTo>
                    <a:pt x="2187309" y="233444"/>
                    <a:pt x="2166023" y="254729"/>
                    <a:pt x="2139766" y="254729"/>
                  </a:cubicBezTo>
                  <a:lnTo>
                    <a:pt x="47543" y="254729"/>
                  </a:lnTo>
                  <a:cubicBezTo>
                    <a:pt x="21286" y="254729"/>
                    <a:pt x="0" y="233444"/>
                    <a:pt x="0" y="207187"/>
                  </a:cubicBezTo>
                  <a:lnTo>
                    <a:pt x="0" y="47543"/>
                  </a:lnTo>
                  <a:cubicBezTo>
                    <a:pt x="0" y="21286"/>
                    <a:pt x="21286" y="0"/>
                    <a:pt x="475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87309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71329" y="1990770"/>
            <a:ext cx="13945342" cy="3559153"/>
            <a:chOff x="0" y="0"/>
            <a:chExt cx="18593789" cy="474553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593789" cy="1165728"/>
              <a:chOff x="0" y="0"/>
              <a:chExt cx="3672847" cy="230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72847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3672847">
                    <a:moveTo>
                      <a:pt x="0" y="0"/>
                    </a:moveTo>
                    <a:lnTo>
                      <a:pt x="3672847" y="0"/>
                    </a:lnTo>
                    <a:lnTo>
                      <a:pt x="3672847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672847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95750" y="1297487"/>
              <a:ext cx="8391889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Lower resource consumption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Reduced embodied energy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Less on-site waste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201900" y="1297487"/>
              <a:ext cx="8391889" cy="274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Reusing waste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Less noisy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75161" y="173712"/>
              <a:ext cx="972674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Benefits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92188" y="-6816439"/>
            <a:ext cx="18788758" cy="9328392"/>
            <a:chOff x="0" y="0"/>
            <a:chExt cx="1557574" cy="7733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5422989" y="-4212392"/>
            <a:ext cx="7928706" cy="79287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6694" y="26694"/>
              <a:ext cx="759412" cy="759412"/>
            </a:xfrm>
            <a:custGeom>
              <a:avLst/>
              <a:gdLst/>
              <a:ahLst/>
              <a:cxnLst/>
              <a:rect r="r" b="b" t="t" l="l"/>
              <a:pathLst>
                <a:path h="759412" w="759412">
                  <a:moveTo>
                    <a:pt x="425276" y="18876"/>
                  </a:moveTo>
                  <a:lnTo>
                    <a:pt x="740536" y="334136"/>
                  </a:lnTo>
                  <a:cubicBezTo>
                    <a:pt x="752622" y="346222"/>
                    <a:pt x="759412" y="362614"/>
                    <a:pt x="759412" y="379706"/>
                  </a:cubicBezTo>
                  <a:cubicBezTo>
                    <a:pt x="759412" y="396798"/>
                    <a:pt x="752622" y="413190"/>
                    <a:pt x="740536" y="425276"/>
                  </a:cubicBezTo>
                  <a:lnTo>
                    <a:pt x="425276" y="740536"/>
                  </a:lnTo>
                  <a:cubicBezTo>
                    <a:pt x="413190" y="752622"/>
                    <a:pt x="396798" y="759412"/>
                    <a:pt x="379706" y="759412"/>
                  </a:cubicBezTo>
                  <a:cubicBezTo>
                    <a:pt x="362614" y="759412"/>
                    <a:pt x="346222" y="752622"/>
                    <a:pt x="334136" y="740536"/>
                  </a:cubicBezTo>
                  <a:lnTo>
                    <a:pt x="18876" y="425276"/>
                  </a:lnTo>
                  <a:cubicBezTo>
                    <a:pt x="6790" y="413190"/>
                    <a:pt x="0" y="396798"/>
                    <a:pt x="0" y="379706"/>
                  </a:cubicBezTo>
                  <a:cubicBezTo>
                    <a:pt x="0" y="362614"/>
                    <a:pt x="6790" y="346222"/>
                    <a:pt x="18876" y="334136"/>
                  </a:cubicBezTo>
                  <a:lnTo>
                    <a:pt x="334136" y="18876"/>
                  </a:lnTo>
                  <a:cubicBezTo>
                    <a:pt x="346222" y="6790"/>
                    <a:pt x="362614" y="0"/>
                    <a:pt x="379706" y="0"/>
                  </a:cubicBezTo>
                  <a:cubicBezTo>
                    <a:pt x="396798" y="0"/>
                    <a:pt x="413190" y="6790"/>
                    <a:pt x="425276" y="1887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991531" y="377843"/>
            <a:ext cx="830493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Environmental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71329" y="5362597"/>
            <a:ext cx="13945342" cy="4083028"/>
            <a:chOff x="0" y="0"/>
            <a:chExt cx="18593789" cy="544403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8593789" cy="1165728"/>
              <a:chOff x="0" y="0"/>
              <a:chExt cx="3672847" cy="23026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2847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3672847">
                    <a:moveTo>
                      <a:pt x="0" y="0"/>
                    </a:moveTo>
                    <a:lnTo>
                      <a:pt x="3672847" y="0"/>
                    </a:lnTo>
                    <a:lnTo>
                      <a:pt x="3672847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72847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95750" y="1297487"/>
              <a:ext cx="8391889" cy="414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Cement footprint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Mesh corrosion w</a:t>
              </a: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aste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Transpor</a:t>
              </a: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 emissions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201900" y="1297487"/>
              <a:ext cx="8391889" cy="274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End-of-life recycling challenge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Water use in curing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75161" y="173712"/>
              <a:ext cx="972674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Drawbacks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3052673" y="9763533"/>
            <a:ext cx="21518857" cy="2096422"/>
            <a:chOff x="0" y="0"/>
            <a:chExt cx="5667518" cy="552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83134" y="368917"/>
            <a:ext cx="6321732" cy="967176"/>
            <a:chOff x="0" y="0"/>
            <a:chExt cx="1664983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83" cy="254729"/>
            </a:xfrm>
            <a:custGeom>
              <a:avLst/>
              <a:gdLst/>
              <a:ahLst/>
              <a:cxnLst/>
              <a:rect r="r" b="b" t="t" l="l"/>
              <a:pathLst>
                <a:path h="254729" w="1664983">
                  <a:moveTo>
                    <a:pt x="62457" y="0"/>
                  </a:moveTo>
                  <a:lnTo>
                    <a:pt x="1602526" y="0"/>
                  </a:lnTo>
                  <a:cubicBezTo>
                    <a:pt x="1637020" y="0"/>
                    <a:pt x="1664983" y="27963"/>
                    <a:pt x="1664983" y="62457"/>
                  </a:cubicBezTo>
                  <a:lnTo>
                    <a:pt x="1664983" y="192272"/>
                  </a:lnTo>
                  <a:cubicBezTo>
                    <a:pt x="1664983" y="208837"/>
                    <a:pt x="1658403" y="224723"/>
                    <a:pt x="1646690" y="236436"/>
                  </a:cubicBezTo>
                  <a:cubicBezTo>
                    <a:pt x="1634977" y="248149"/>
                    <a:pt x="1619090" y="254729"/>
                    <a:pt x="1602526" y="254729"/>
                  </a:cubicBezTo>
                  <a:lnTo>
                    <a:pt x="62457" y="254729"/>
                  </a:lnTo>
                  <a:cubicBezTo>
                    <a:pt x="45893" y="254729"/>
                    <a:pt x="30006" y="248149"/>
                    <a:pt x="18293" y="236436"/>
                  </a:cubicBezTo>
                  <a:cubicBezTo>
                    <a:pt x="6580" y="224723"/>
                    <a:pt x="0" y="208837"/>
                    <a:pt x="0" y="192272"/>
                  </a:cubicBezTo>
                  <a:lnTo>
                    <a:pt x="0" y="62457"/>
                  </a:lnTo>
                  <a:cubicBezTo>
                    <a:pt x="0" y="45893"/>
                    <a:pt x="6580" y="30006"/>
                    <a:pt x="18293" y="18293"/>
                  </a:cubicBezTo>
                  <a:cubicBezTo>
                    <a:pt x="30006" y="6580"/>
                    <a:pt x="45893" y="0"/>
                    <a:pt x="62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4983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71329" y="2028086"/>
            <a:ext cx="13945342" cy="3035278"/>
            <a:chOff x="0" y="0"/>
            <a:chExt cx="18593789" cy="404703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593789" cy="1165728"/>
              <a:chOff x="0" y="0"/>
              <a:chExt cx="3672847" cy="2302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72847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3672847">
                    <a:moveTo>
                      <a:pt x="0" y="0"/>
                    </a:moveTo>
                    <a:lnTo>
                      <a:pt x="3672847" y="0"/>
                    </a:lnTo>
                    <a:lnTo>
                      <a:pt x="3672847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672847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95750" y="1297487"/>
              <a:ext cx="8391889" cy="274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Employment diversification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Reskilling opportunities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Affordable housing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201900" y="1297487"/>
              <a:ext cx="8391889" cy="274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Community uplift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Cleaner and safer sites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Time efficiency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75161" y="173712"/>
              <a:ext cx="972674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Benefits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92188" y="-6816439"/>
            <a:ext cx="18788758" cy="9328392"/>
            <a:chOff x="0" y="0"/>
            <a:chExt cx="1557574" cy="7733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5961967" y="-2391178"/>
            <a:ext cx="7454541" cy="74545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8392" y="28392"/>
              <a:ext cx="756016" cy="756016"/>
            </a:xfrm>
            <a:custGeom>
              <a:avLst/>
              <a:gdLst/>
              <a:ahLst/>
              <a:cxnLst/>
              <a:rect r="r" b="b" t="t" l="l"/>
              <a:pathLst>
                <a:path h="756016" w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32641" y="377843"/>
            <a:ext cx="48227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Social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71329" y="5419176"/>
            <a:ext cx="13945342" cy="3559153"/>
            <a:chOff x="0" y="0"/>
            <a:chExt cx="18593789" cy="474553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8593789" cy="1165728"/>
              <a:chOff x="0" y="0"/>
              <a:chExt cx="3672847" cy="23026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2847" cy="230267"/>
              </a:xfrm>
              <a:custGeom>
                <a:avLst/>
                <a:gdLst/>
                <a:ahLst/>
                <a:cxnLst/>
                <a:rect r="r" b="b" t="t" l="l"/>
                <a:pathLst>
                  <a:path h="230267" w="3672847">
                    <a:moveTo>
                      <a:pt x="0" y="0"/>
                    </a:moveTo>
                    <a:lnTo>
                      <a:pt x="3672847" y="0"/>
                    </a:lnTo>
                    <a:lnTo>
                      <a:pt x="3672847" y="230267"/>
                    </a:lnTo>
                    <a:lnTo>
                      <a:pt x="0" y="230267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72847" cy="268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95750" y="1297487"/>
              <a:ext cx="8391889" cy="344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Labor displacement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Cultural resistance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Skill gap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201900" y="1297487"/>
              <a:ext cx="8391889" cy="2749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Quality inconsistency risk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Urban–rural imbalance</a:t>
              </a:r>
            </a:p>
            <a:p>
              <a:pPr algn="just" marL="647698" indent="-323849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End-of-life waste</a:t>
              </a:r>
            </a:p>
            <a:p>
              <a:pPr algn="just">
                <a:lnSpc>
                  <a:spcPts val="4199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75161" y="173712"/>
              <a:ext cx="972674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9"/>
                </a:lnSpc>
              </a:pPr>
              <a:r>
                <a:rPr lang="en-US" sz="3399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Drawbacks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1010164" y="9756612"/>
            <a:ext cx="21518857" cy="2096422"/>
            <a:chOff x="0" y="0"/>
            <a:chExt cx="5667518" cy="552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070160" y="9664559"/>
            <a:ext cx="162306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9421" y="237719"/>
            <a:ext cx="6989157" cy="967176"/>
            <a:chOff x="0" y="0"/>
            <a:chExt cx="1840766" cy="25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0766" cy="254729"/>
            </a:xfrm>
            <a:custGeom>
              <a:avLst/>
              <a:gdLst/>
              <a:ahLst/>
              <a:cxnLst/>
              <a:rect r="r" b="b" t="t" l="l"/>
              <a:pathLst>
                <a:path h="254729" w="1840766">
                  <a:moveTo>
                    <a:pt x="56493" y="0"/>
                  </a:moveTo>
                  <a:lnTo>
                    <a:pt x="1784273" y="0"/>
                  </a:lnTo>
                  <a:cubicBezTo>
                    <a:pt x="1799256" y="0"/>
                    <a:pt x="1813625" y="5952"/>
                    <a:pt x="1824219" y="16546"/>
                  </a:cubicBezTo>
                  <a:cubicBezTo>
                    <a:pt x="1834814" y="27141"/>
                    <a:pt x="1840766" y="41510"/>
                    <a:pt x="1840766" y="56493"/>
                  </a:cubicBezTo>
                  <a:lnTo>
                    <a:pt x="1840766" y="198237"/>
                  </a:lnTo>
                  <a:cubicBezTo>
                    <a:pt x="1840766" y="229437"/>
                    <a:pt x="1815473" y="254729"/>
                    <a:pt x="1784273" y="254729"/>
                  </a:cubicBezTo>
                  <a:lnTo>
                    <a:pt x="56493" y="254729"/>
                  </a:lnTo>
                  <a:cubicBezTo>
                    <a:pt x="41510" y="254729"/>
                    <a:pt x="27141" y="248778"/>
                    <a:pt x="16546" y="238183"/>
                  </a:cubicBezTo>
                  <a:cubicBezTo>
                    <a:pt x="5952" y="227589"/>
                    <a:pt x="0" y="213219"/>
                    <a:pt x="0" y="198237"/>
                  </a:cubicBezTo>
                  <a:lnTo>
                    <a:pt x="0" y="56493"/>
                  </a:lnTo>
                  <a:cubicBezTo>
                    <a:pt x="0" y="41510"/>
                    <a:pt x="5952" y="27141"/>
                    <a:pt x="16546" y="16546"/>
                  </a:cubicBezTo>
                  <a:cubicBezTo>
                    <a:pt x="27141" y="5952"/>
                    <a:pt x="41510" y="0"/>
                    <a:pt x="564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40766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92188" y="-6816439"/>
            <a:ext cx="18788758" cy="9328392"/>
            <a:chOff x="0" y="0"/>
            <a:chExt cx="1557574" cy="773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16751" y="409358"/>
            <a:ext cx="2382328" cy="23823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3652" y="33652"/>
              <a:ext cx="745496" cy="745496"/>
            </a:xfrm>
            <a:custGeom>
              <a:avLst/>
              <a:gdLst/>
              <a:ahLst/>
              <a:cxnLst/>
              <a:rect r="r" b="b" t="t" l="l"/>
              <a:pathLst>
                <a:path h="745496" w="745496">
                  <a:moveTo>
                    <a:pt x="430196" y="23796"/>
                  </a:moveTo>
                  <a:lnTo>
                    <a:pt x="721700" y="315300"/>
                  </a:lnTo>
                  <a:cubicBezTo>
                    <a:pt x="753428" y="347028"/>
                    <a:pt x="753428" y="398468"/>
                    <a:pt x="721700" y="430196"/>
                  </a:cubicBezTo>
                  <a:lnTo>
                    <a:pt x="430196" y="721700"/>
                  </a:lnTo>
                  <a:cubicBezTo>
                    <a:pt x="398468" y="753428"/>
                    <a:pt x="347028" y="753428"/>
                    <a:pt x="315300" y="721700"/>
                  </a:cubicBezTo>
                  <a:lnTo>
                    <a:pt x="23796" y="430196"/>
                  </a:lnTo>
                  <a:cubicBezTo>
                    <a:pt x="-7932" y="398468"/>
                    <a:pt x="-7932" y="347028"/>
                    <a:pt x="23796" y="315300"/>
                  </a:cubicBezTo>
                  <a:lnTo>
                    <a:pt x="315300" y="23796"/>
                  </a:lnTo>
                  <a:cubicBezTo>
                    <a:pt x="347028" y="-7932"/>
                    <a:pt x="398468" y="-7932"/>
                    <a:pt x="430196" y="2379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375842" y="5531029"/>
            <a:ext cx="7454541" cy="74545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8392" y="28392"/>
              <a:ext cx="756016" cy="756016"/>
            </a:xfrm>
            <a:custGeom>
              <a:avLst/>
              <a:gdLst/>
              <a:ahLst/>
              <a:cxnLst/>
              <a:rect r="r" b="b" t="t" l="l"/>
              <a:pathLst>
                <a:path h="756016" w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864387" y="1481816"/>
          <a:ext cx="7543800" cy="5029200"/>
        </p:xfrm>
        <a:graphic>
          <a:graphicData uri="http://schemas.openxmlformats.org/presentationml/2006/ole">
            <p:oleObj imgW="9042400" imgH="6527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5811304" y="246644"/>
            <a:ext cx="666539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 Assessment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056" y="6106399"/>
            <a:ext cx="4174940" cy="4123397"/>
          </a:xfrm>
          <a:custGeom>
            <a:avLst/>
            <a:gdLst/>
            <a:ahLst/>
            <a:cxnLst/>
            <a:rect r="r" b="b" t="t" l="l"/>
            <a:pathLst>
              <a:path h="4123397" w="4174940">
                <a:moveTo>
                  <a:pt x="0" y="0"/>
                </a:moveTo>
                <a:lnTo>
                  <a:pt x="4174940" y="0"/>
                </a:lnTo>
                <a:lnTo>
                  <a:pt x="4174940" y="4123397"/>
                </a:lnTo>
                <a:lnTo>
                  <a:pt x="0" y="4123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84" t="-21861" r="-18397" b="-1733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2006" y="349867"/>
            <a:ext cx="8304938" cy="967176"/>
            <a:chOff x="0" y="0"/>
            <a:chExt cx="2187309" cy="254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309" cy="254729"/>
            </a:xfrm>
            <a:custGeom>
              <a:avLst/>
              <a:gdLst/>
              <a:ahLst/>
              <a:cxnLst/>
              <a:rect r="r" b="b" t="t" l="l"/>
              <a:pathLst>
                <a:path h="254729" w="2187309">
                  <a:moveTo>
                    <a:pt x="47543" y="0"/>
                  </a:moveTo>
                  <a:lnTo>
                    <a:pt x="2139766" y="0"/>
                  </a:lnTo>
                  <a:cubicBezTo>
                    <a:pt x="2166023" y="0"/>
                    <a:pt x="2187309" y="21286"/>
                    <a:pt x="2187309" y="47543"/>
                  </a:cubicBezTo>
                  <a:lnTo>
                    <a:pt x="2187309" y="207187"/>
                  </a:lnTo>
                  <a:cubicBezTo>
                    <a:pt x="2187309" y="233444"/>
                    <a:pt x="2166023" y="254729"/>
                    <a:pt x="2139766" y="254729"/>
                  </a:cubicBezTo>
                  <a:lnTo>
                    <a:pt x="47543" y="254729"/>
                  </a:lnTo>
                  <a:cubicBezTo>
                    <a:pt x="21286" y="254729"/>
                    <a:pt x="0" y="233444"/>
                    <a:pt x="0" y="207187"/>
                  </a:cubicBezTo>
                  <a:lnTo>
                    <a:pt x="0" y="47543"/>
                  </a:lnTo>
                  <a:cubicBezTo>
                    <a:pt x="0" y="21286"/>
                    <a:pt x="21286" y="0"/>
                    <a:pt x="475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100000"/>
                  </a:srgbClr>
                </a:gs>
                <a:gs pos="100000">
                  <a:srgbClr val="0079A7">
                    <a:alpha val="155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87309" cy="302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92188" y="-6816439"/>
            <a:ext cx="18788758" cy="9328392"/>
            <a:chOff x="0" y="0"/>
            <a:chExt cx="1557574" cy="7733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28264" y="8587930"/>
            <a:ext cx="7148344" cy="1163684"/>
          </a:xfrm>
          <a:custGeom>
            <a:avLst/>
            <a:gdLst/>
            <a:ahLst/>
            <a:cxnLst/>
            <a:rect r="r" b="b" t="t" l="l"/>
            <a:pathLst>
              <a:path h="1163684" w="7148344">
                <a:moveTo>
                  <a:pt x="0" y="0"/>
                </a:moveTo>
                <a:lnTo>
                  <a:pt x="7148345" y="0"/>
                </a:lnTo>
                <a:lnTo>
                  <a:pt x="7148345" y="1163684"/>
                </a:lnTo>
                <a:lnTo>
                  <a:pt x="0" y="1163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491755" y="2624717"/>
            <a:ext cx="9759199" cy="9749726"/>
            <a:chOff x="0" y="0"/>
            <a:chExt cx="890190" cy="8893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2882" y="32837"/>
              <a:ext cx="824427" cy="823653"/>
            </a:xfrm>
            <a:custGeom>
              <a:avLst/>
              <a:gdLst/>
              <a:ahLst/>
              <a:cxnLst/>
              <a:rect r="r" b="b" t="t" l="l"/>
              <a:pathLst>
                <a:path h="823653" w="824427">
                  <a:moveTo>
                    <a:pt x="468335" y="23230"/>
                  </a:moveTo>
                  <a:lnTo>
                    <a:pt x="801187" y="355759"/>
                  </a:lnTo>
                  <a:cubicBezTo>
                    <a:pt x="816066" y="370624"/>
                    <a:pt x="824426" y="390794"/>
                    <a:pt x="824426" y="411826"/>
                  </a:cubicBezTo>
                  <a:cubicBezTo>
                    <a:pt x="824426" y="432859"/>
                    <a:pt x="816066" y="453028"/>
                    <a:pt x="801187" y="467893"/>
                  </a:cubicBezTo>
                  <a:lnTo>
                    <a:pt x="468335" y="800422"/>
                  </a:lnTo>
                  <a:cubicBezTo>
                    <a:pt x="437331" y="831396"/>
                    <a:pt x="387095" y="831396"/>
                    <a:pt x="356092" y="800422"/>
                  </a:cubicBezTo>
                  <a:lnTo>
                    <a:pt x="23240" y="467893"/>
                  </a:lnTo>
                  <a:cubicBezTo>
                    <a:pt x="8360" y="453028"/>
                    <a:pt x="0" y="432859"/>
                    <a:pt x="0" y="411826"/>
                  </a:cubicBezTo>
                  <a:cubicBezTo>
                    <a:pt x="0" y="390794"/>
                    <a:pt x="8360" y="370624"/>
                    <a:pt x="23240" y="355759"/>
                  </a:cubicBezTo>
                  <a:lnTo>
                    <a:pt x="356092" y="23230"/>
                  </a:lnTo>
                  <a:cubicBezTo>
                    <a:pt x="387095" y="-7744"/>
                    <a:pt x="437331" y="-7744"/>
                    <a:pt x="468335" y="23230"/>
                  </a:cubicBezTo>
                  <a:close/>
                </a:path>
              </a:pathLst>
            </a:custGeom>
            <a:blipFill>
              <a:blip r:embed="rId7"/>
              <a:stretch>
                <a:fillRect l="379" t="333" r="379" b="33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82006" y="358793"/>
            <a:ext cx="830493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Recommendation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1977" y="1647275"/>
            <a:ext cx="11348243" cy="404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431" indent="-358215" lvl="1">
              <a:lnSpc>
                <a:spcPts val="4645"/>
              </a:lnSpc>
              <a:buFont typeface="Arial"/>
              <a:buChar char="•"/>
            </a:pPr>
            <a:r>
              <a:rPr lang="en-US" sz="3318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The ferrocement wall panel development project is technically sound, financially viable, and economically beneficial.</a:t>
            </a:r>
          </a:p>
          <a:p>
            <a:pPr algn="l" marL="716431" indent="-358215" lvl="1">
              <a:lnSpc>
                <a:spcPts val="4645"/>
              </a:lnSpc>
              <a:buFont typeface="Arial"/>
              <a:buChar char="•"/>
            </a:pPr>
            <a:r>
              <a:rPr lang="en-US" sz="3318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It reduces cost, time, and CO₂ emissions while creating local employment.</a:t>
            </a:r>
          </a:p>
          <a:p>
            <a:pPr algn="l" marL="716431" indent="-358215" lvl="1">
              <a:lnSpc>
                <a:spcPts val="4645"/>
              </a:lnSpc>
              <a:buFont typeface="Arial"/>
              <a:buChar char="•"/>
            </a:pPr>
            <a:r>
              <a:rPr lang="en-US" sz="3318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Recommended for implementation and scale-up under NERDC–UoM collaboration.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5888" y="9235036"/>
            <a:ext cx="21518857" cy="2096422"/>
            <a:chOff x="0" y="0"/>
            <a:chExt cx="5667518" cy="5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31576" y="1028700"/>
            <a:ext cx="13635042" cy="13621806"/>
            <a:chOff x="0" y="0"/>
            <a:chExt cx="890190" cy="889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3535" y="23503"/>
              <a:ext cx="843120" cy="842321"/>
            </a:xfrm>
            <a:custGeom>
              <a:avLst/>
              <a:gdLst/>
              <a:ahLst/>
              <a:cxnLst/>
              <a:rect r="r" b="b" t="t" l="l"/>
              <a:pathLst>
                <a:path h="842321" w="843120">
                  <a:moveTo>
                    <a:pt x="461729" y="16627"/>
                  </a:moveTo>
                  <a:lnTo>
                    <a:pt x="826487" y="381030"/>
                  </a:lnTo>
                  <a:cubicBezTo>
                    <a:pt x="837136" y="391670"/>
                    <a:pt x="843120" y="406106"/>
                    <a:pt x="843120" y="421160"/>
                  </a:cubicBezTo>
                  <a:cubicBezTo>
                    <a:pt x="843120" y="436214"/>
                    <a:pt x="837136" y="450650"/>
                    <a:pt x="826487" y="461290"/>
                  </a:cubicBezTo>
                  <a:lnTo>
                    <a:pt x="461729" y="825694"/>
                  </a:lnTo>
                  <a:cubicBezTo>
                    <a:pt x="439538" y="847863"/>
                    <a:pt x="403582" y="847863"/>
                    <a:pt x="381391" y="825694"/>
                  </a:cubicBezTo>
                  <a:lnTo>
                    <a:pt x="16634" y="461290"/>
                  </a:lnTo>
                  <a:cubicBezTo>
                    <a:pt x="5984" y="450650"/>
                    <a:pt x="0" y="436214"/>
                    <a:pt x="0" y="421160"/>
                  </a:cubicBezTo>
                  <a:cubicBezTo>
                    <a:pt x="0" y="406106"/>
                    <a:pt x="5984" y="391670"/>
                    <a:pt x="16634" y="381030"/>
                  </a:cubicBezTo>
                  <a:lnTo>
                    <a:pt x="381391" y="16627"/>
                  </a:lnTo>
                  <a:cubicBezTo>
                    <a:pt x="403582" y="-5543"/>
                    <a:pt x="439538" y="-5543"/>
                    <a:pt x="461729" y="16627"/>
                  </a:cubicBezTo>
                  <a:close/>
                </a:path>
              </a:pathLst>
            </a:custGeom>
            <a:blipFill>
              <a:blip r:embed="rId2"/>
              <a:stretch>
                <a:fillRect l="-13723" t="-6059" r="-49963" b="-310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24017" y="-6859967"/>
            <a:ext cx="18788758" cy="9328392"/>
            <a:chOff x="0" y="0"/>
            <a:chExt cx="1557574" cy="7733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53131" y="3147373"/>
            <a:ext cx="6538586" cy="299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0"/>
              </a:lnSpc>
            </a:pPr>
            <a:r>
              <a:rPr lang="en-US" sz="12656" b="true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grpSp>
        <p:nvGrpSpPr>
          <p:cNvPr name="Group 12" id="12"/>
          <p:cNvGrpSpPr/>
          <p:nvPr/>
        </p:nvGrpSpPr>
        <p:grpSpPr>
          <a:xfrm rot="2700000">
            <a:off x="15142291" y="6737777"/>
            <a:ext cx="1371544" cy="1371544"/>
            <a:chOff x="0" y="0"/>
            <a:chExt cx="361230" cy="3612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230" cy="361230"/>
            </a:xfrm>
            <a:custGeom>
              <a:avLst/>
              <a:gdLst/>
              <a:ahLst/>
              <a:cxnLst/>
              <a:rect r="r" b="b" t="t" l="l"/>
              <a:pathLst>
                <a:path h="361230" w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703466" y="6112911"/>
            <a:ext cx="5131036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DAG2D1-im4s</dc:identifier>
  <dcterms:modified xsi:type="dcterms:W3CDTF">2011-08-01T06:04:30Z</dcterms:modified>
  <cp:revision>1</cp:revision>
  <dc:title>Eng Economics EBCA and FBCA</dc:title>
</cp:coreProperties>
</file>